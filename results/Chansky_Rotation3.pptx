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notesMasterIdLst>
    <p:notesMasterId r:id="rId10"/>
  </p:notesMasterIdLst>
  <p:sldIdLst>
    <p:sldId id="256" r:id="rId2"/>
    <p:sldId id="257" r:id="rId3"/>
    <p:sldId id="267" r:id="rId4"/>
    <p:sldId id="259" r:id="rId5"/>
    <p:sldId id="268" r:id="rId6"/>
    <p:sldId id="265" r:id="rId7"/>
    <p:sldId id="261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C4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19"/>
    <p:restoredTop sz="94937"/>
  </p:normalViewPr>
  <p:slideViewPr>
    <p:cSldViewPr snapToGrid="0" snapToObjects="1">
      <p:cViewPr varScale="1">
        <p:scale>
          <a:sx n="89" d="100"/>
          <a:sy n="89" d="100"/>
        </p:scale>
        <p:origin x="4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B1D6C1-F866-994F-A34C-8B4C03A98992}" type="datetimeFigureOut">
              <a:rPr lang="en-US" smtClean="0"/>
              <a:t>6/9/22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E82797-7F01-BF42-BB04-682E2B255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218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Peptide binds the MHC (HLA Allele specific)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TCR recognizes the Peptide-MHC complex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TCR binds the peptide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Immune response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82797-7F01-BF42-BB04-682E2B255EB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6705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**rerun with even split of groups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82797-7F01-BF42-BB04-682E2B255EB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9433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495EC-7127-B440-BBE1-299F5F7918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E501B2-54BE-9340-85F3-E8E1CE8C54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4BFE08-56C9-2C4A-8672-81F5F9218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6/9/22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57557E-12BF-4943-9C1C-312E0816D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7BCCA-4386-C049-BD01-778ACD6EF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7964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C790C-4E2E-8D47-BFB8-53A011C64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317A9B-8FFE-6343-944C-B3E17A8C4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79A694-11D9-874D-B951-F8CAAE732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6/9/22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6D64B9-3151-2E40-A25D-2EED35B6B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891EF1-5CA6-5545-8847-17FA78E8B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3336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145C1-D09C-004E-8009-C1BAC3CB4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40B5B2-974C-904C-81B5-B1C07409F6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F7B6DA-8E01-D547-A33D-D194BE5E2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6/9/22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804075-993B-3443-9819-C753A2DA6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C3D2D-DCF8-1744-BA9F-0A09339E5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8945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79EC6-06A9-3E4A-9ACF-D5496772E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FAE6B-BBEB-9C4A-8AFE-95D2719829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C2A132-E4C1-5B42-A97E-3BAB0F8D45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7CD67B-6530-DE47-92D8-1F10163E5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6/9/22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E4F820-31A6-9948-A3DE-20BA628AC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281747-CC70-5042-8644-356D63617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320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D387E-C6CE-7D4D-948F-2A6060502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E6BF17-6E90-7C43-8C7C-833FD61411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8FA8F1-8FC1-5541-8153-AC83BF734B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CACFBA-56E3-E143-B616-99499E7BFA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EEEDEE-7272-3D44-99AD-F5E899DB74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8DA7CF-0B4E-E848-988F-1E865062A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6/9/22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A7D393-319F-5049-B6C6-250D16D4B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83E5BE-0B22-3C4A-AAB1-7E46F850F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7334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26013-15BD-5445-9D73-7850FBC4B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1F7056-E78F-2647-B8D7-CF378AC53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6/9/22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2889E1-2A11-0244-BCF0-1CD736437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EB8B49-CF9C-0A46-9A24-FA1218563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3112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F3684F-64A0-1447-8D52-55A007625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6/9/22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DE3AD4-6211-944D-81FC-38F18FDDA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13F205-C34E-B340-B224-87EB1C173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95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3507C-F162-B74C-892C-5FA76B2F0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83A19-B263-254B-AA86-31516946D4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8C9B44-7882-BD49-A1AF-B6F9F802D2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D8D502-4B77-0C48-9FD1-2F3BE2848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6/9/22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C4F191-CDA4-1D4B-B0F5-8AF5E9DCB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75EBEF-0EEC-A449-92EB-A891736E9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849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61893-4094-FD48-B6B7-330835938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3595ED-78AB-1340-8A47-FE5D0F9C0D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E27D2A-FA81-CA41-8221-96B7E8E313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ACC212-4F15-FE4D-8B20-6B15A7849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6/9/22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31A480-62D1-F548-9430-760794756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13C2BC-2078-C54C-A12A-4D38D65BE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988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CA597-FAED-054E-AD42-2FAF7ACCC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3AB9E4-FCED-E94F-9A4A-A6E490FCEA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4DAE78-7A95-DE49-AC41-6B65860ED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6/9/22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DF37E6-5326-6844-878B-8D7951949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34BC2-A758-C049-8595-1EF15C8C6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138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546E62-21FA-1A4D-982A-EB2946900F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62E71C-AAA7-0749-A19C-C460803E00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5180FC-6299-1F48-8BF9-37A89BB68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6/9/22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79C07D-FDFE-0943-BC33-53454A36E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A0DBCF-4294-6C42-BF7C-2B8AC3A2D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711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B8D339-212C-6740-8E21-86EB1FA0D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7C9ABF-F96B-0B49-8292-F01F3DF303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67142E-2618-9D48-BE55-241AA6E4FE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DE6118-2437-4B30-8E3C-4D2BE6020583}" type="datetimeFigureOut">
              <a:rPr lang="en-US" smtClean="0"/>
              <a:pPr/>
              <a:t>6/9/22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388E65-0977-F244-8DE9-831C3AABFB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6BADF2-4ACA-B747-9553-706B244F17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7303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tif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tif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4CA1FCF-D803-9549-B4AD-7A063E9C39C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000"/>
          </a:blip>
          <a:stretch>
            <a:fillRect/>
          </a:stretch>
        </p:blipFill>
        <p:spPr>
          <a:xfrm>
            <a:off x="0" y="-1"/>
            <a:ext cx="12192000" cy="688449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3D5AB1-08CB-BC42-908C-A4F64A60C3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/>
              <a:t>Predicting Peptide Binding for HLA Alleles &amp; T Cell Receptors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C2C183-526A-C84B-A8E1-721F29CD61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Pamela Chansky</a:t>
            </a:r>
          </a:p>
          <a:p>
            <a:r>
              <a:rPr lang="en-US" dirty="0"/>
              <a:t>Mentor: Russell Cruz</a:t>
            </a:r>
          </a:p>
          <a:p>
            <a:r>
              <a:rPr lang="en-US" dirty="0"/>
              <a:t>Institution: Children’s National</a:t>
            </a:r>
          </a:p>
        </p:txBody>
      </p:sp>
    </p:spTree>
    <p:extLst>
      <p:ext uri="{BB962C8B-B14F-4D97-AF65-F5344CB8AC3E}">
        <p14:creationId xmlns:p14="http://schemas.microsoft.com/office/powerpoint/2010/main" val="2924121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570B5BAD-9567-5F42-8D53-48BC671434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4177" y="925300"/>
            <a:ext cx="4657778" cy="233689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20AF00A-D615-8646-9A1B-17BF93FE4F7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7546" r="1049" b="9298"/>
          <a:stretch/>
        </p:blipFill>
        <p:spPr>
          <a:xfrm>
            <a:off x="2072013" y="278969"/>
            <a:ext cx="9239885" cy="346373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F9C59-AB57-0B4C-883C-A85C92883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932" y="5972546"/>
            <a:ext cx="11116945" cy="66361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Hypothesis:  A peptide’s amino acid sequence indicates binding affinity (non-binding, weak binding, or strong binding) to specific HLA alleles and TCR sequences.</a:t>
            </a:r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7E3164-2DCD-F84A-889C-B04D6B834DBD}"/>
              </a:ext>
            </a:extLst>
          </p:cNvPr>
          <p:cNvSpPr txBox="1"/>
          <p:nvPr/>
        </p:nvSpPr>
        <p:spPr>
          <a:xfrm>
            <a:off x="3491538" y="3742699"/>
            <a:ext cx="5208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Example: PRAM Top Binders Across HLA Supertypes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8F8D14-697D-E74A-A170-867DFFBACF43}"/>
              </a:ext>
            </a:extLst>
          </p:cNvPr>
          <p:cNvSpPr txBox="1"/>
          <p:nvPr/>
        </p:nvSpPr>
        <p:spPr>
          <a:xfrm>
            <a:off x="0" y="0"/>
            <a:ext cx="6258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Peptide-MHC-TCR Binding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AAAD6C4-2F2C-D649-9DDB-32578DB9E2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0074490"/>
              </p:ext>
            </p:extLst>
          </p:nvPr>
        </p:nvGraphicFramePr>
        <p:xfrm>
          <a:off x="1368879" y="4125032"/>
          <a:ext cx="9163053" cy="1760220"/>
        </p:xfrm>
        <a:graphic>
          <a:graphicData uri="http://schemas.openxmlformats.org/drawingml/2006/table">
            <a:tbl>
              <a:tblPr/>
              <a:tblGrid>
                <a:gridCol w="1018117">
                  <a:extLst>
                    <a:ext uri="{9D8B030D-6E8A-4147-A177-3AD203B41FA5}">
                      <a16:colId xmlns:a16="http://schemas.microsoft.com/office/drawing/2014/main" val="2154781350"/>
                    </a:ext>
                  </a:extLst>
                </a:gridCol>
                <a:gridCol w="1018117">
                  <a:extLst>
                    <a:ext uri="{9D8B030D-6E8A-4147-A177-3AD203B41FA5}">
                      <a16:colId xmlns:a16="http://schemas.microsoft.com/office/drawing/2014/main" val="3284021941"/>
                    </a:ext>
                  </a:extLst>
                </a:gridCol>
                <a:gridCol w="1018117">
                  <a:extLst>
                    <a:ext uri="{9D8B030D-6E8A-4147-A177-3AD203B41FA5}">
                      <a16:colId xmlns:a16="http://schemas.microsoft.com/office/drawing/2014/main" val="451099043"/>
                    </a:ext>
                  </a:extLst>
                </a:gridCol>
                <a:gridCol w="1018117">
                  <a:extLst>
                    <a:ext uri="{9D8B030D-6E8A-4147-A177-3AD203B41FA5}">
                      <a16:colId xmlns:a16="http://schemas.microsoft.com/office/drawing/2014/main" val="2984832541"/>
                    </a:ext>
                  </a:extLst>
                </a:gridCol>
                <a:gridCol w="1018117">
                  <a:extLst>
                    <a:ext uri="{9D8B030D-6E8A-4147-A177-3AD203B41FA5}">
                      <a16:colId xmlns:a16="http://schemas.microsoft.com/office/drawing/2014/main" val="2259603428"/>
                    </a:ext>
                  </a:extLst>
                </a:gridCol>
                <a:gridCol w="1018117">
                  <a:extLst>
                    <a:ext uri="{9D8B030D-6E8A-4147-A177-3AD203B41FA5}">
                      <a16:colId xmlns:a16="http://schemas.microsoft.com/office/drawing/2014/main" val="3131098137"/>
                    </a:ext>
                  </a:extLst>
                </a:gridCol>
                <a:gridCol w="1018117">
                  <a:extLst>
                    <a:ext uri="{9D8B030D-6E8A-4147-A177-3AD203B41FA5}">
                      <a16:colId xmlns:a16="http://schemas.microsoft.com/office/drawing/2014/main" val="3250901774"/>
                    </a:ext>
                  </a:extLst>
                </a:gridCol>
                <a:gridCol w="1018117">
                  <a:extLst>
                    <a:ext uri="{9D8B030D-6E8A-4147-A177-3AD203B41FA5}">
                      <a16:colId xmlns:a16="http://schemas.microsoft.com/office/drawing/2014/main" val="4283173063"/>
                    </a:ext>
                  </a:extLst>
                </a:gridCol>
                <a:gridCol w="1018117">
                  <a:extLst>
                    <a:ext uri="{9D8B030D-6E8A-4147-A177-3AD203B41FA5}">
                      <a16:colId xmlns:a16="http://schemas.microsoft.com/office/drawing/2014/main" val="3296887596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dirty="0">
                          <a:effectLst/>
                        </a:rPr>
                        <a:t>A1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A2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>
                          <a:effectLst/>
                        </a:rPr>
                        <a:t>A3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>
                          <a:effectLst/>
                        </a:rPr>
                        <a:t>A4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>
                          <a:effectLst/>
                        </a:rPr>
                        <a:t>B7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>
                          <a:effectLst/>
                        </a:rPr>
                        <a:t>B15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>
                          <a:effectLst/>
                        </a:rPr>
                        <a:t>B27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>
                          <a:effectLst/>
                        </a:rPr>
                        <a:t>B44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>
                          <a:effectLst/>
                        </a:rPr>
                        <a:t>B58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724959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Peptide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Peptide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Peptide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Peptide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Peptide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Peptide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Peptide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Peptide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Peptide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150720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VPDEIYELY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ALLPLETEV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</a:rPr>
                        <a:t>SSLGHPPAK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GYVPRTALL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RPLPPASSL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SQPEPSAVL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SRHPLSPGF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SEAAQTPLW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FGAAGTPRW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791254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LLPLETEVY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SLKPPPPEV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KMMIDPNAK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SLPAAVAGF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</a:rPr>
                        <a:t>TPRSPQPEL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SPQPELSTF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KRHPQPEFF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AEREFRKKF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SGAFPRKLW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923087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PAQPEFNVY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RQPEDIPQV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KLELSDLSK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EFNSLPRKL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VPRTALLPL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</a:rPr>
                        <a:t>AAMESHQDF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TRSAAGLHF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GEILEVIEF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ASQPPLSDF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603142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FSQPELSEH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QVPDEIYEL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QQLPPMDPK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QLPPMDPKL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TPRWRSGGL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LLPLETEVY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</a:rPr>
                        <a:t>RRTRSAAGL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GEAPLKASL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</a:rPr>
                        <a:t>KAEKAEREF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360268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SSEPEFNSL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QLPPMDPKL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GLRPSHPPR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</a:rPr>
                        <a:t>QVPDEIYEL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RPSAASIDL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ASQPPLSDF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</a:rPr>
                        <a:t>RRGEILEVI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</a:rPr>
                        <a:t>REFRKKFKF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</a:rPr>
                        <a:t>KSGAFPRKL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54460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3516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F90D1-39C3-5842-91F6-74FD6EF66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/>
              <a:t>Peptide-MHC Data and </a:t>
            </a:r>
            <a:r>
              <a:rPr lang="en-US" sz="3600" b="1" dirty="0" err="1"/>
              <a:t>CatBoost</a:t>
            </a:r>
            <a:endParaRPr lang="en-US" sz="36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8DF9C7D-16DE-7E44-B4AB-814A37C47D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1209628"/>
              </p:ext>
            </p:extLst>
          </p:nvPr>
        </p:nvGraphicFramePr>
        <p:xfrm>
          <a:off x="2422070" y="1325563"/>
          <a:ext cx="7277100" cy="44405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357212880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3051716656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175226396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3337381249"/>
                    </a:ext>
                  </a:extLst>
                </a:gridCol>
              </a:tblGrid>
              <a:tr h="444051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 dirty="0">
                          <a:effectLst/>
                        </a:rPr>
                        <a:t>Peptide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 dirty="0">
                          <a:effectLst/>
                        </a:rPr>
                        <a:t>HLA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Binding Affinity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Strength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43795649"/>
                  </a:ext>
                </a:extLst>
              </a:tr>
              <a:tr h="444051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DIVKGLSGY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HLA-B46:01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0.084687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95511288"/>
                  </a:ext>
                </a:extLst>
              </a:tr>
              <a:tr h="444051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QTVEDEARRM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HLA-B57:01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0.269270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86735382"/>
                  </a:ext>
                </a:extLst>
              </a:tr>
              <a:tr h="444051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YTFAISYCR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HLA-A33:01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0.949341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Strong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36339207"/>
                  </a:ext>
                </a:extLst>
              </a:tr>
              <a:tr h="444051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ETIEEPAEVE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HLA-B15:01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0.084687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69907852"/>
                  </a:ext>
                </a:extLst>
              </a:tr>
              <a:tr h="444051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SLSAYIIRVT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HLA-A02:01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0.335903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64275604"/>
                  </a:ext>
                </a:extLst>
              </a:tr>
              <a:tr h="444051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RIKTRLFTI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HLA-B18:01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0.084687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51115987"/>
                  </a:ext>
                </a:extLst>
              </a:tr>
              <a:tr h="444051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LIVSLCPTK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HLA-A11:01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0.568492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Weak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82938585"/>
                  </a:ext>
                </a:extLst>
              </a:tr>
              <a:tr h="444051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ETGKSIHFV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HLA-A26:01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0.169373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Non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15111782"/>
                  </a:ext>
                </a:extLst>
              </a:tr>
              <a:tr h="444051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AAAYFVGYLK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HLA-A11:01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Strong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83327237"/>
                  </a:ext>
                </a:extLst>
              </a:tr>
            </a:tbl>
          </a:graphicData>
        </a:graphic>
      </p:graphicFrame>
      <p:sp>
        <p:nvSpPr>
          <p:cNvPr id="6" name="Oval 5">
            <a:extLst>
              <a:ext uri="{FF2B5EF4-FFF2-40B4-BE49-F238E27FC236}">
                <a16:creationId xmlns:a16="http://schemas.microsoft.com/office/drawing/2014/main" id="{F127633D-8FEA-3948-9186-101585BD7C9D}"/>
              </a:ext>
            </a:extLst>
          </p:cNvPr>
          <p:cNvSpPr/>
          <p:nvPr/>
        </p:nvSpPr>
        <p:spPr>
          <a:xfrm>
            <a:off x="4574720" y="1079791"/>
            <a:ext cx="2971800" cy="1075733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AA at position 1 = K?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51C8509-B21F-344D-A628-A4FEE7E2D793}"/>
              </a:ext>
            </a:extLst>
          </p:cNvPr>
          <p:cNvSpPr/>
          <p:nvPr/>
        </p:nvSpPr>
        <p:spPr>
          <a:xfrm>
            <a:off x="2836562" y="2384805"/>
            <a:ext cx="1742440" cy="822959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AA at position 2 = A?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828EE6C-3300-8E42-8B26-468A1C189EA7}"/>
              </a:ext>
            </a:extLst>
          </p:cNvPr>
          <p:cNvSpPr/>
          <p:nvPr/>
        </p:nvSpPr>
        <p:spPr>
          <a:xfrm>
            <a:off x="7550802" y="2384805"/>
            <a:ext cx="1742440" cy="822959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AA at position 2 = A?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BAE0152-32A2-BA46-9538-836179CC3EF9}"/>
              </a:ext>
            </a:extLst>
          </p:cNvPr>
          <p:cNvCxnSpPr>
            <a:cxnSpLocks/>
            <a:stCxn id="7" idx="7"/>
          </p:cNvCxnSpPr>
          <p:nvPr/>
        </p:nvCxnSpPr>
        <p:spPr>
          <a:xfrm flipV="1">
            <a:off x="4323828" y="1973267"/>
            <a:ext cx="690384" cy="53205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9DA4228-7B0B-194A-9648-C7EE07672398}"/>
              </a:ext>
            </a:extLst>
          </p:cNvPr>
          <p:cNvCxnSpPr>
            <a:cxnSpLocks/>
            <a:stCxn id="8" idx="1"/>
          </p:cNvCxnSpPr>
          <p:nvPr/>
        </p:nvCxnSpPr>
        <p:spPr>
          <a:xfrm flipH="1" flipV="1">
            <a:off x="7115592" y="1973267"/>
            <a:ext cx="690384" cy="53205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21DC296-D6BD-D346-8BB5-1770DE906094}"/>
              </a:ext>
            </a:extLst>
          </p:cNvPr>
          <p:cNvSpPr txBox="1"/>
          <p:nvPr/>
        </p:nvSpPr>
        <p:spPr>
          <a:xfrm>
            <a:off x="4195369" y="1935592"/>
            <a:ext cx="485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A5E01C-6C40-4142-8277-0C0E11197016}"/>
              </a:ext>
            </a:extLst>
          </p:cNvPr>
          <p:cNvSpPr txBox="1"/>
          <p:nvPr/>
        </p:nvSpPr>
        <p:spPr>
          <a:xfrm>
            <a:off x="7450602" y="1935592"/>
            <a:ext cx="455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04F1B11-FE27-0C41-BDF5-56A3D3CCE754}"/>
              </a:ext>
            </a:extLst>
          </p:cNvPr>
          <p:cNvGrpSpPr/>
          <p:nvPr/>
        </p:nvGrpSpPr>
        <p:grpSpPr>
          <a:xfrm>
            <a:off x="1653720" y="3058739"/>
            <a:ext cx="8813800" cy="1451480"/>
            <a:chOff x="2230120" y="3927510"/>
            <a:chExt cx="8813800" cy="145148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D82A6EE-E7F3-0C4C-A484-C3F1C0BA1FF9}"/>
                </a:ext>
              </a:extLst>
            </p:cNvPr>
            <p:cNvSpPr/>
            <p:nvPr/>
          </p:nvSpPr>
          <p:spPr>
            <a:xfrm>
              <a:off x="2230120" y="4556031"/>
              <a:ext cx="1742440" cy="822959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AA at position 3 = C?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162F559-B30E-4841-A5C0-99722AD1AFFF}"/>
                </a:ext>
              </a:extLst>
            </p:cNvPr>
            <p:cNvSpPr/>
            <p:nvPr/>
          </p:nvSpPr>
          <p:spPr>
            <a:xfrm>
              <a:off x="6944360" y="4556031"/>
              <a:ext cx="1742440" cy="822959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AA at position 3 = C?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8AC7FA7-6761-444F-87C9-7C4FEC156C20}"/>
                </a:ext>
              </a:extLst>
            </p:cNvPr>
            <p:cNvSpPr/>
            <p:nvPr/>
          </p:nvSpPr>
          <p:spPr>
            <a:xfrm>
              <a:off x="4587240" y="4556031"/>
              <a:ext cx="1742440" cy="822959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AA at position 3 = C?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C1819A6-D5C1-ED47-8901-FAEED95B3160}"/>
                </a:ext>
              </a:extLst>
            </p:cNvPr>
            <p:cNvSpPr/>
            <p:nvPr/>
          </p:nvSpPr>
          <p:spPr>
            <a:xfrm>
              <a:off x="9301480" y="4556031"/>
              <a:ext cx="1742440" cy="822959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AA at position 3 = C?</a:t>
              </a: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90EBC86-E16A-6D4D-B782-BCC2966B5E75}"/>
                </a:ext>
              </a:extLst>
            </p:cNvPr>
            <p:cNvCxnSpPr>
              <a:cxnSpLocks/>
              <a:endCxn id="14" idx="0"/>
            </p:cNvCxnSpPr>
            <p:nvPr/>
          </p:nvCxnSpPr>
          <p:spPr>
            <a:xfrm flipH="1">
              <a:off x="3101340" y="3927510"/>
              <a:ext cx="608234" cy="62852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94B7EE0-76C0-AB46-8072-4947A4D91DFC}"/>
                </a:ext>
              </a:extLst>
            </p:cNvPr>
            <p:cNvCxnSpPr>
              <a:endCxn id="16" idx="0"/>
            </p:cNvCxnSpPr>
            <p:nvPr/>
          </p:nvCxnSpPr>
          <p:spPr>
            <a:xfrm>
              <a:off x="4941666" y="3927510"/>
              <a:ext cx="516794" cy="62852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DCA56DBB-B57F-0A49-9258-6096108EAD95}"/>
                </a:ext>
              </a:extLst>
            </p:cNvPr>
            <p:cNvCxnSpPr/>
            <p:nvPr/>
          </p:nvCxnSpPr>
          <p:spPr>
            <a:xfrm flipH="1">
              <a:off x="7733430" y="3927510"/>
              <a:ext cx="690384" cy="62852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3FB9780-59FC-9D42-B653-6C5C98778C12}"/>
                </a:ext>
              </a:extLst>
            </p:cNvPr>
            <p:cNvCxnSpPr>
              <a:endCxn id="17" idx="0"/>
            </p:cNvCxnSpPr>
            <p:nvPr/>
          </p:nvCxnSpPr>
          <p:spPr>
            <a:xfrm>
              <a:off x="9655906" y="3927510"/>
              <a:ext cx="516794" cy="62852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8E359BC-2C91-D544-B853-BE89ED7F3286}"/>
                </a:ext>
              </a:extLst>
            </p:cNvPr>
            <p:cNvSpPr txBox="1"/>
            <p:nvPr/>
          </p:nvSpPr>
          <p:spPr>
            <a:xfrm>
              <a:off x="2858299" y="4007390"/>
              <a:ext cx="4855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Yes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249E269-939E-9743-98D7-1B76E261E7C6}"/>
                </a:ext>
              </a:extLst>
            </p:cNvPr>
            <p:cNvSpPr txBox="1"/>
            <p:nvPr/>
          </p:nvSpPr>
          <p:spPr>
            <a:xfrm>
              <a:off x="7610921" y="3993659"/>
              <a:ext cx="4855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Yes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5E95A0B-9B56-EC44-9816-08E7E55BE840}"/>
                </a:ext>
              </a:extLst>
            </p:cNvPr>
            <p:cNvSpPr txBox="1"/>
            <p:nvPr/>
          </p:nvSpPr>
          <p:spPr>
            <a:xfrm>
              <a:off x="9888269" y="4007390"/>
              <a:ext cx="4555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No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079CDB1-55D0-9F4C-83C6-A2E4B3C96A69}"/>
                </a:ext>
              </a:extLst>
            </p:cNvPr>
            <p:cNvSpPr txBox="1"/>
            <p:nvPr/>
          </p:nvSpPr>
          <p:spPr>
            <a:xfrm>
              <a:off x="5152827" y="3974112"/>
              <a:ext cx="4555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No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F63E2F6-0CE2-374C-9D51-C58EAA099146}"/>
              </a:ext>
            </a:extLst>
          </p:cNvPr>
          <p:cNvGrpSpPr/>
          <p:nvPr/>
        </p:nvGrpSpPr>
        <p:grpSpPr>
          <a:xfrm>
            <a:off x="885750" y="4392848"/>
            <a:ext cx="10596880" cy="1407825"/>
            <a:chOff x="1432560" y="5258470"/>
            <a:chExt cx="10596880" cy="1407825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B0D33FF-F254-E54D-999A-5CD08AFC2F05}"/>
                </a:ext>
              </a:extLst>
            </p:cNvPr>
            <p:cNvSpPr txBox="1"/>
            <p:nvPr/>
          </p:nvSpPr>
          <p:spPr>
            <a:xfrm>
              <a:off x="1432560" y="5927631"/>
              <a:ext cx="1107440" cy="73866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Non: 0.20</a:t>
              </a:r>
              <a:br>
                <a:rPr lang="en-US" sz="1400" dirty="0"/>
              </a:br>
              <a:r>
                <a:rPr lang="en-US" sz="1400" dirty="0"/>
                <a:t>Weak: 0.03</a:t>
              </a:r>
            </a:p>
            <a:p>
              <a:pPr algn="ctr"/>
              <a:r>
                <a:rPr lang="en-US" sz="1400" dirty="0"/>
                <a:t>Strong: 0.65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C7AACDD-A1D0-3F44-A83D-F3F3B5AFABDC}"/>
                </a:ext>
              </a:extLst>
            </p:cNvPr>
            <p:cNvSpPr txBox="1"/>
            <p:nvPr/>
          </p:nvSpPr>
          <p:spPr>
            <a:xfrm>
              <a:off x="2880360" y="5927631"/>
              <a:ext cx="1107440" cy="73866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Non: 0.12</a:t>
              </a:r>
              <a:br>
                <a:rPr lang="en-US" sz="1400" dirty="0"/>
              </a:br>
              <a:r>
                <a:rPr lang="en-US" sz="1400" dirty="0"/>
                <a:t>Weak: 0.31</a:t>
              </a:r>
            </a:p>
            <a:p>
              <a:pPr algn="ctr"/>
              <a:r>
                <a:rPr lang="en-US" sz="1400" dirty="0"/>
                <a:t>Strong: 0.52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A345361-E695-5447-82C4-59AF96EE2A16}"/>
                </a:ext>
              </a:extLst>
            </p:cNvPr>
            <p:cNvSpPr txBox="1"/>
            <p:nvPr/>
          </p:nvSpPr>
          <p:spPr>
            <a:xfrm>
              <a:off x="4109720" y="5927631"/>
              <a:ext cx="1107440" cy="73866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Non: 0.01</a:t>
              </a:r>
              <a:br>
                <a:rPr lang="en-US" sz="1400" dirty="0"/>
              </a:br>
              <a:r>
                <a:rPr lang="en-US" sz="1400" dirty="0"/>
                <a:t>Weak: 0.78</a:t>
              </a:r>
            </a:p>
            <a:p>
              <a:pPr algn="ctr"/>
              <a:r>
                <a:rPr lang="en-US" sz="1400" dirty="0"/>
                <a:t>Strong: 0.04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FD74E72-D001-7D43-97B5-C62075929313}"/>
                </a:ext>
              </a:extLst>
            </p:cNvPr>
            <p:cNvSpPr txBox="1"/>
            <p:nvPr/>
          </p:nvSpPr>
          <p:spPr>
            <a:xfrm>
              <a:off x="5496560" y="5927631"/>
              <a:ext cx="1107440" cy="73866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Non: 0.10</a:t>
              </a:r>
              <a:br>
                <a:rPr lang="en-US" sz="1400" dirty="0"/>
              </a:br>
              <a:r>
                <a:rPr lang="en-US" sz="1400" dirty="0"/>
                <a:t>Weak: 0.53</a:t>
              </a:r>
            </a:p>
            <a:p>
              <a:pPr algn="ctr"/>
              <a:r>
                <a:rPr lang="en-US" sz="1400" dirty="0"/>
                <a:t>Strong: 0.25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3C96F0E-2566-6D4F-8928-64E08E74000A}"/>
                </a:ext>
              </a:extLst>
            </p:cNvPr>
            <p:cNvSpPr txBox="1"/>
            <p:nvPr/>
          </p:nvSpPr>
          <p:spPr>
            <a:xfrm>
              <a:off x="6746240" y="5927631"/>
              <a:ext cx="1107440" cy="73866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Non: 0.80</a:t>
              </a:r>
              <a:br>
                <a:rPr lang="en-US" sz="1400" dirty="0"/>
              </a:br>
              <a:r>
                <a:rPr lang="en-US" sz="1400" dirty="0"/>
                <a:t>Weak: 0.01</a:t>
              </a:r>
            </a:p>
            <a:p>
              <a:pPr algn="ctr"/>
              <a:r>
                <a:rPr lang="en-US" sz="1400" dirty="0"/>
                <a:t>Strong: 0.05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8BDA706-B4F2-1047-B05A-D24242C63AF6}"/>
                </a:ext>
              </a:extLst>
            </p:cNvPr>
            <p:cNvSpPr txBox="1"/>
            <p:nvPr/>
          </p:nvSpPr>
          <p:spPr>
            <a:xfrm>
              <a:off x="8133080" y="5927631"/>
              <a:ext cx="1107440" cy="73866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Non: 0.31</a:t>
              </a:r>
              <a:br>
                <a:rPr lang="en-US" sz="1400" dirty="0"/>
              </a:br>
              <a:r>
                <a:rPr lang="en-US" sz="1400" dirty="0"/>
                <a:t>Weak: 0.18</a:t>
              </a:r>
            </a:p>
            <a:p>
              <a:pPr algn="ctr"/>
              <a:r>
                <a:rPr lang="en-US" sz="1400" dirty="0"/>
                <a:t>Strong: 0.46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CCF4620-C17E-4341-91BE-A27411300A95}"/>
                </a:ext>
              </a:extLst>
            </p:cNvPr>
            <p:cNvSpPr txBox="1"/>
            <p:nvPr/>
          </p:nvSpPr>
          <p:spPr>
            <a:xfrm>
              <a:off x="9453880" y="5927631"/>
              <a:ext cx="1107440" cy="73866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Non: 0.22</a:t>
              </a:r>
              <a:br>
                <a:rPr lang="en-US" sz="1400" dirty="0"/>
              </a:br>
              <a:r>
                <a:rPr lang="en-US" sz="1400" dirty="0"/>
                <a:t>Weak: 0.67</a:t>
              </a:r>
            </a:p>
            <a:p>
              <a:pPr algn="ctr"/>
              <a:r>
                <a:rPr lang="en-US" sz="1400" dirty="0"/>
                <a:t>Strong: 0.17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7A14E69-216B-C34C-95C0-0345728D3866}"/>
                </a:ext>
              </a:extLst>
            </p:cNvPr>
            <p:cNvSpPr txBox="1"/>
            <p:nvPr/>
          </p:nvSpPr>
          <p:spPr>
            <a:xfrm>
              <a:off x="10922000" y="5927631"/>
              <a:ext cx="1107440" cy="73866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Non: 0.65</a:t>
              </a:r>
              <a:br>
                <a:rPr lang="en-US" sz="1400" dirty="0"/>
              </a:br>
              <a:r>
                <a:rPr lang="en-US" sz="1400" dirty="0"/>
                <a:t>Weak: 0.21</a:t>
              </a:r>
            </a:p>
            <a:p>
              <a:pPr algn="ctr"/>
              <a:r>
                <a:rPr lang="en-US" sz="1400" dirty="0"/>
                <a:t>Strong: 0.14</a:t>
              </a:r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41A05E53-8728-BC49-973B-71EAF77A03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86280" y="5258470"/>
              <a:ext cx="499014" cy="66916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51417BC-2209-C941-A264-58A98B600680}"/>
                </a:ext>
              </a:extLst>
            </p:cNvPr>
            <p:cNvCxnSpPr/>
            <p:nvPr/>
          </p:nvCxnSpPr>
          <p:spPr>
            <a:xfrm>
              <a:off x="3101340" y="5378990"/>
              <a:ext cx="353060" cy="54864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601A1BFB-FFCE-444C-9308-F79E4456B468}"/>
                </a:ext>
              </a:extLst>
            </p:cNvPr>
            <p:cNvCxnSpPr>
              <a:endCxn id="29" idx="0"/>
            </p:cNvCxnSpPr>
            <p:nvPr/>
          </p:nvCxnSpPr>
          <p:spPr>
            <a:xfrm flipH="1">
              <a:off x="4663440" y="5258470"/>
              <a:ext cx="178974" cy="66916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8709449-0169-F44D-BC9D-9EA2F1F573D6}"/>
                </a:ext>
              </a:extLst>
            </p:cNvPr>
            <p:cNvCxnSpPr>
              <a:cxnSpLocks/>
            </p:cNvCxnSpPr>
            <p:nvPr/>
          </p:nvCxnSpPr>
          <p:spPr>
            <a:xfrm>
              <a:off x="6074506" y="5258470"/>
              <a:ext cx="219321" cy="66916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7B14C2D-C9DE-0D4E-A8B5-7EB49E50D12D}"/>
                </a:ext>
              </a:extLst>
            </p:cNvPr>
            <p:cNvCxnSpPr/>
            <p:nvPr/>
          </p:nvCxnSpPr>
          <p:spPr>
            <a:xfrm flipH="1">
              <a:off x="7132320" y="5258470"/>
              <a:ext cx="67214" cy="66916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76B5387-D4F7-1742-94C3-1732A5379FAF}"/>
                </a:ext>
              </a:extLst>
            </p:cNvPr>
            <p:cNvCxnSpPr>
              <a:endCxn id="32" idx="0"/>
            </p:cNvCxnSpPr>
            <p:nvPr/>
          </p:nvCxnSpPr>
          <p:spPr>
            <a:xfrm>
              <a:off x="8431626" y="5258470"/>
              <a:ext cx="255174" cy="66916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D2CF5F19-ED12-5D40-AE90-B7F1C5DF75A6}"/>
                </a:ext>
              </a:extLst>
            </p:cNvPr>
            <p:cNvCxnSpPr>
              <a:endCxn id="33" idx="0"/>
            </p:cNvCxnSpPr>
            <p:nvPr/>
          </p:nvCxnSpPr>
          <p:spPr>
            <a:xfrm flipH="1">
              <a:off x="10007600" y="5378990"/>
              <a:ext cx="165100" cy="54864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2657D04-63D5-7943-879D-B9D5FADD8681}"/>
                </a:ext>
              </a:extLst>
            </p:cNvPr>
            <p:cNvCxnSpPr>
              <a:cxnSpLocks/>
              <a:endCxn id="34" idx="0"/>
            </p:cNvCxnSpPr>
            <p:nvPr/>
          </p:nvCxnSpPr>
          <p:spPr>
            <a:xfrm>
              <a:off x="10788746" y="5258470"/>
              <a:ext cx="686974" cy="66916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178D460-1EE4-DF4A-9843-BF8770C15FF3}"/>
                </a:ext>
              </a:extLst>
            </p:cNvPr>
            <p:cNvSpPr txBox="1"/>
            <p:nvPr/>
          </p:nvSpPr>
          <p:spPr>
            <a:xfrm>
              <a:off x="1755939" y="5356883"/>
              <a:ext cx="4855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Yes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ABF7ADB-B813-8949-BE38-64D46B3F2407}"/>
                </a:ext>
              </a:extLst>
            </p:cNvPr>
            <p:cNvSpPr txBox="1"/>
            <p:nvPr/>
          </p:nvSpPr>
          <p:spPr>
            <a:xfrm>
              <a:off x="4291141" y="5356883"/>
              <a:ext cx="4855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Yes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914429C7-F63C-A040-A232-B7EF231244D4}"/>
                </a:ext>
              </a:extLst>
            </p:cNvPr>
            <p:cNvSpPr txBox="1"/>
            <p:nvPr/>
          </p:nvSpPr>
          <p:spPr>
            <a:xfrm>
              <a:off x="6687157" y="5355097"/>
              <a:ext cx="4855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Yes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F421894-EBE7-C441-9C46-2C1F58AB6571}"/>
                </a:ext>
              </a:extLst>
            </p:cNvPr>
            <p:cNvSpPr txBox="1"/>
            <p:nvPr/>
          </p:nvSpPr>
          <p:spPr>
            <a:xfrm>
              <a:off x="9676133" y="5355097"/>
              <a:ext cx="4855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Yes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37196890-E037-B94B-A9CB-A180A2A115DA}"/>
                </a:ext>
              </a:extLst>
            </p:cNvPr>
            <p:cNvSpPr txBox="1"/>
            <p:nvPr/>
          </p:nvSpPr>
          <p:spPr>
            <a:xfrm>
              <a:off x="3262308" y="5351807"/>
              <a:ext cx="4555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No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EC18593-8F75-F94F-AB4F-3F7ABD00B9FA}"/>
                </a:ext>
              </a:extLst>
            </p:cNvPr>
            <p:cNvSpPr txBox="1"/>
            <p:nvPr/>
          </p:nvSpPr>
          <p:spPr>
            <a:xfrm>
              <a:off x="6167950" y="5351807"/>
              <a:ext cx="4555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No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562A607F-FE01-304D-B64A-8D6C4A95D42B}"/>
                </a:ext>
              </a:extLst>
            </p:cNvPr>
            <p:cNvSpPr txBox="1"/>
            <p:nvPr/>
          </p:nvSpPr>
          <p:spPr>
            <a:xfrm>
              <a:off x="8569046" y="5326349"/>
              <a:ext cx="4555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No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BADA2BE5-F0F6-1643-9875-C05CFE01D32E}"/>
                </a:ext>
              </a:extLst>
            </p:cNvPr>
            <p:cNvSpPr txBox="1"/>
            <p:nvPr/>
          </p:nvSpPr>
          <p:spPr>
            <a:xfrm>
              <a:off x="11205281" y="5326349"/>
              <a:ext cx="4555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No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C5AE930F-5161-D747-A02E-DBD951540A58}"/>
              </a:ext>
            </a:extLst>
          </p:cNvPr>
          <p:cNvGrpSpPr/>
          <p:nvPr/>
        </p:nvGrpSpPr>
        <p:grpSpPr>
          <a:xfrm>
            <a:off x="699539" y="2546409"/>
            <a:ext cx="10414506" cy="1801993"/>
            <a:chOff x="289828" y="551743"/>
            <a:chExt cx="10414506" cy="1801993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5FF8151D-C1BA-414A-A01A-24C21CD04A06}"/>
                </a:ext>
              </a:extLst>
            </p:cNvPr>
            <p:cNvGrpSpPr/>
            <p:nvPr/>
          </p:nvGrpSpPr>
          <p:grpSpPr>
            <a:xfrm>
              <a:off x="289828" y="551743"/>
              <a:ext cx="1869946" cy="1747520"/>
              <a:chOff x="3606800" y="1036320"/>
              <a:chExt cx="4419600" cy="4074160"/>
            </a:xfrm>
          </p:grpSpPr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2F3A076C-5FCF-5140-91C5-7DC2B0047238}"/>
                  </a:ext>
                </a:extLst>
              </p:cNvPr>
              <p:cNvSpPr/>
              <p:nvPr/>
            </p:nvSpPr>
            <p:spPr>
              <a:xfrm>
                <a:off x="5364480" y="1036320"/>
                <a:ext cx="914400" cy="914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39CCE22E-189A-E344-86B5-28F1F891EC93}"/>
                  </a:ext>
                </a:extLst>
              </p:cNvPr>
              <p:cNvCxnSpPr>
                <a:stCxn id="100" idx="3"/>
                <a:endCxn id="108" idx="7"/>
              </p:cNvCxnSpPr>
              <p:nvPr/>
            </p:nvCxnSpPr>
            <p:spPr>
              <a:xfrm flipH="1">
                <a:off x="5017209" y="1816809"/>
                <a:ext cx="481182" cy="106030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F4F4C933-5275-6A4F-8828-9A275CCFCA54}"/>
                  </a:ext>
                </a:extLst>
              </p:cNvPr>
              <p:cNvCxnSpPr>
                <a:cxnSpLocks/>
                <a:stCxn id="100" idx="5"/>
                <a:endCxn id="107" idx="1"/>
              </p:cNvCxnSpPr>
              <p:nvPr/>
            </p:nvCxnSpPr>
            <p:spPr>
              <a:xfrm>
                <a:off x="6144969" y="1816809"/>
                <a:ext cx="542142" cy="106030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3480B2A4-650D-2243-AC7C-F3C0EE0E40E9}"/>
                  </a:ext>
                </a:extLst>
              </p:cNvPr>
              <p:cNvCxnSpPr/>
              <p:nvPr/>
            </p:nvCxnSpPr>
            <p:spPr>
              <a:xfrm flipH="1">
                <a:off x="4089903" y="3391609"/>
                <a:ext cx="481182" cy="106030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349E94F9-1DFC-9F4D-AA5A-CDA5744F2156}"/>
                  </a:ext>
                </a:extLst>
              </p:cNvPr>
              <p:cNvCxnSpPr/>
              <p:nvPr/>
            </p:nvCxnSpPr>
            <p:spPr>
              <a:xfrm flipH="1">
                <a:off x="6408214" y="3391609"/>
                <a:ext cx="481182" cy="106030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11698D9B-FF89-8246-BB2D-A2109709B6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41010" y="3405431"/>
                <a:ext cx="423470" cy="104648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FF3BB28D-0FAD-3E48-B6D5-A1426EC19C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45730" y="3398520"/>
                <a:ext cx="423470" cy="104648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F3F49A7B-F13E-E640-9DAE-B96A0A19A76B}"/>
                  </a:ext>
                </a:extLst>
              </p:cNvPr>
              <p:cNvSpPr/>
              <p:nvPr/>
            </p:nvSpPr>
            <p:spPr>
              <a:xfrm>
                <a:off x="6553200" y="2743200"/>
                <a:ext cx="914400" cy="914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ECD059C8-992B-5142-BA2B-9FDD9175633F}"/>
                  </a:ext>
                </a:extLst>
              </p:cNvPr>
              <p:cNvSpPr/>
              <p:nvPr/>
            </p:nvSpPr>
            <p:spPr>
              <a:xfrm>
                <a:off x="4236720" y="2743200"/>
                <a:ext cx="914400" cy="914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1D4C7AA2-2207-124F-8CA3-ABE24D2958B4}"/>
                  </a:ext>
                </a:extLst>
              </p:cNvPr>
              <p:cNvSpPr/>
              <p:nvPr/>
            </p:nvSpPr>
            <p:spPr>
              <a:xfrm>
                <a:off x="3606800" y="4196080"/>
                <a:ext cx="914400" cy="914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FD687994-036F-BB4E-9214-5BF22E8BAC95}"/>
                  </a:ext>
                </a:extLst>
              </p:cNvPr>
              <p:cNvSpPr/>
              <p:nvPr/>
            </p:nvSpPr>
            <p:spPr>
              <a:xfrm>
                <a:off x="4775200" y="4185920"/>
                <a:ext cx="914400" cy="914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5096946F-8659-BA4D-9F1C-3A3C4B784509}"/>
                  </a:ext>
                </a:extLst>
              </p:cNvPr>
              <p:cNvSpPr/>
              <p:nvPr/>
            </p:nvSpPr>
            <p:spPr>
              <a:xfrm>
                <a:off x="5943600" y="4196080"/>
                <a:ext cx="914400" cy="914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EB43DF18-A68A-844F-AE9A-19FDAFFE0BB0}"/>
                  </a:ext>
                </a:extLst>
              </p:cNvPr>
              <p:cNvSpPr/>
              <p:nvPr/>
            </p:nvSpPr>
            <p:spPr>
              <a:xfrm>
                <a:off x="7112000" y="4196080"/>
                <a:ext cx="914400" cy="914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1ED09DF0-DB55-3045-A359-E7B79E73C95D}"/>
                </a:ext>
              </a:extLst>
            </p:cNvPr>
            <p:cNvGrpSpPr/>
            <p:nvPr/>
          </p:nvGrpSpPr>
          <p:grpSpPr>
            <a:xfrm>
              <a:off x="2697748" y="551743"/>
              <a:ext cx="1869946" cy="1747520"/>
              <a:chOff x="3606800" y="1036320"/>
              <a:chExt cx="4419600" cy="4074160"/>
            </a:xfrm>
          </p:grpSpPr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5B492BF5-9C33-0E4E-97CD-CB2726BF8CE0}"/>
                  </a:ext>
                </a:extLst>
              </p:cNvPr>
              <p:cNvSpPr/>
              <p:nvPr/>
            </p:nvSpPr>
            <p:spPr>
              <a:xfrm>
                <a:off x="5364480" y="1036320"/>
                <a:ext cx="914400" cy="914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24066E96-E38D-8C47-B067-99AC907D0E31}"/>
                  </a:ext>
                </a:extLst>
              </p:cNvPr>
              <p:cNvCxnSpPr>
                <a:stCxn id="87" idx="3"/>
                <a:endCxn id="95" idx="7"/>
              </p:cNvCxnSpPr>
              <p:nvPr/>
            </p:nvCxnSpPr>
            <p:spPr>
              <a:xfrm flipH="1">
                <a:off x="5017209" y="1816809"/>
                <a:ext cx="481182" cy="106030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D502E4A2-B23D-D046-97BD-14A64D1E5E9A}"/>
                  </a:ext>
                </a:extLst>
              </p:cNvPr>
              <p:cNvCxnSpPr>
                <a:cxnSpLocks/>
                <a:stCxn id="87" idx="5"/>
                <a:endCxn id="94" idx="1"/>
              </p:cNvCxnSpPr>
              <p:nvPr/>
            </p:nvCxnSpPr>
            <p:spPr>
              <a:xfrm>
                <a:off x="6144969" y="1816809"/>
                <a:ext cx="542142" cy="106030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4C7A0B04-AE16-684E-93FB-925B3FE17B20}"/>
                  </a:ext>
                </a:extLst>
              </p:cNvPr>
              <p:cNvCxnSpPr/>
              <p:nvPr/>
            </p:nvCxnSpPr>
            <p:spPr>
              <a:xfrm flipH="1">
                <a:off x="4089903" y="3391609"/>
                <a:ext cx="481182" cy="106030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EDEED13D-5A6B-2C4C-9A56-793E806ECD36}"/>
                  </a:ext>
                </a:extLst>
              </p:cNvPr>
              <p:cNvCxnSpPr/>
              <p:nvPr/>
            </p:nvCxnSpPr>
            <p:spPr>
              <a:xfrm flipH="1">
                <a:off x="6408214" y="3391609"/>
                <a:ext cx="481182" cy="106030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5ED26DB5-E678-2A45-A6E3-F67F2F50FF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41010" y="3405431"/>
                <a:ext cx="423470" cy="104648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6B982BF5-3281-7F47-BF27-BBC4C63493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45730" y="3398520"/>
                <a:ext cx="423470" cy="104648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37A3817C-7762-6B40-A1FF-E5B3DCC7821A}"/>
                  </a:ext>
                </a:extLst>
              </p:cNvPr>
              <p:cNvSpPr/>
              <p:nvPr/>
            </p:nvSpPr>
            <p:spPr>
              <a:xfrm>
                <a:off x="6553200" y="2743200"/>
                <a:ext cx="914400" cy="914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BA8026B9-4614-3544-85EA-DF0EB8BA4920}"/>
                  </a:ext>
                </a:extLst>
              </p:cNvPr>
              <p:cNvSpPr/>
              <p:nvPr/>
            </p:nvSpPr>
            <p:spPr>
              <a:xfrm>
                <a:off x="4236720" y="2743200"/>
                <a:ext cx="914400" cy="914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5B648460-438A-384E-B71A-1BDC288733D0}"/>
                  </a:ext>
                </a:extLst>
              </p:cNvPr>
              <p:cNvSpPr/>
              <p:nvPr/>
            </p:nvSpPr>
            <p:spPr>
              <a:xfrm>
                <a:off x="3606800" y="4196080"/>
                <a:ext cx="914400" cy="914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25145BEE-C22F-7645-A7D2-57E087764B56}"/>
                  </a:ext>
                </a:extLst>
              </p:cNvPr>
              <p:cNvSpPr/>
              <p:nvPr/>
            </p:nvSpPr>
            <p:spPr>
              <a:xfrm>
                <a:off x="4775200" y="4185920"/>
                <a:ext cx="914400" cy="914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78B04B52-8905-E24C-B230-340291BD918C}"/>
                  </a:ext>
                </a:extLst>
              </p:cNvPr>
              <p:cNvSpPr/>
              <p:nvPr/>
            </p:nvSpPr>
            <p:spPr>
              <a:xfrm>
                <a:off x="5943600" y="4196080"/>
                <a:ext cx="914400" cy="914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4CED58B0-2BFA-9E44-92B3-EB4D01ABEF26}"/>
                  </a:ext>
                </a:extLst>
              </p:cNvPr>
              <p:cNvSpPr/>
              <p:nvPr/>
            </p:nvSpPr>
            <p:spPr>
              <a:xfrm>
                <a:off x="7112000" y="4196080"/>
                <a:ext cx="914400" cy="914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74F9C028-D114-DB4B-91A1-7D65C2365B03}"/>
                </a:ext>
              </a:extLst>
            </p:cNvPr>
            <p:cNvGrpSpPr/>
            <p:nvPr/>
          </p:nvGrpSpPr>
          <p:grpSpPr>
            <a:xfrm>
              <a:off x="4786012" y="551743"/>
              <a:ext cx="1869946" cy="1747520"/>
              <a:chOff x="3606800" y="1036320"/>
              <a:chExt cx="4419600" cy="4074160"/>
            </a:xfrm>
            <a:solidFill>
              <a:schemeClr val="accent2"/>
            </a:solidFill>
          </p:grpSpPr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85E1B88F-04C5-5D43-AEA9-FADDF2852B9B}"/>
                  </a:ext>
                </a:extLst>
              </p:cNvPr>
              <p:cNvSpPr/>
              <p:nvPr/>
            </p:nvSpPr>
            <p:spPr>
              <a:xfrm>
                <a:off x="5364480" y="1036320"/>
                <a:ext cx="914400" cy="914400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A722FFBE-6E90-BD46-BB49-F4009A988723}"/>
                  </a:ext>
                </a:extLst>
              </p:cNvPr>
              <p:cNvCxnSpPr>
                <a:stCxn id="74" idx="3"/>
                <a:endCxn id="82" idx="7"/>
              </p:cNvCxnSpPr>
              <p:nvPr/>
            </p:nvCxnSpPr>
            <p:spPr>
              <a:xfrm flipH="1">
                <a:off x="5017209" y="1816809"/>
                <a:ext cx="481182" cy="1060302"/>
              </a:xfrm>
              <a:prstGeom prst="line">
                <a:avLst/>
              </a:prstGeom>
              <a:grpFill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4E028731-82A9-DF47-9F3C-069B5CD20D22}"/>
                  </a:ext>
                </a:extLst>
              </p:cNvPr>
              <p:cNvCxnSpPr>
                <a:cxnSpLocks/>
                <a:stCxn id="74" idx="5"/>
                <a:endCxn id="81" idx="1"/>
              </p:cNvCxnSpPr>
              <p:nvPr/>
            </p:nvCxnSpPr>
            <p:spPr>
              <a:xfrm>
                <a:off x="6144969" y="1816809"/>
                <a:ext cx="542142" cy="1060302"/>
              </a:xfrm>
              <a:prstGeom prst="line">
                <a:avLst/>
              </a:prstGeom>
              <a:grpFill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E59C23B0-E60A-F343-AF2B-CF80DE217641}"/>
                  </a:ext>
                </a:extLst>
              </p:cNvPr>
              <p:cNvCxnSpPr/>
              <p:nvPr/>
            </p:nvCxnSpPr>
            <p:spPr>
              <a:xfrm flipH="1">
                <a:off x="4089903" y="3391609"/>
                <a:ext cx="481182" cy="1060302"/>
              </a:xfrm>
              <a:prstGeom prst="line">
                <a:avLst/>
              </a:prstGeom>
              <a:grpFill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34E205C8-AC5A-C34D-9F37-E249E29FACD4}"/>
                  </a:ext>
                </a:extLst>
              </p:cNvPr>
              <p:cNvCxnSpPr/>
              <p:nvPr/>
            </p:nvCxnSpPr>
            <p:spPr>
              <a:xfrm flipH="1">
                <a:off x="6408214" y="3391609"/>
                <a:ext cx="481182" cy="1060302"/>
              </a:xfrm>
              <a:prstGeom prst="line">
                <a:avLst/>
              </a:prstGeom>
              <a:grpFill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0892104E-DC44-844C-BBFE-2A40A2CBEC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41010" y="3405431"/>
                <a:ext cx="423470" cy="1046480"/>
              </a:xfrm>
              <a:prstGeom prst="line">
                <a:avLst/>
              </a:prstGeom>
              <a:grpFill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0A17B3FF-1F7D-A448-821B-FDA20E815E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45730" y="3398520"/>
                <a:ext cx="423470" cy="1046480"/>
              </a:xfrm>
              <a:prstGeom prst="line">
                <a:avLst/>
              </a:prstGeom>
              <a:grpFill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36A94928-2CA9-5D4C-9E39-89F32EB01385}"/>
                  </a:ext>
                </a:extLst>
              </p:cNvPr>
              <p:cNvSpPr/>
              <p:nvPr/>
            </p:nvSpPr>
            <p:spPr>
              <a:xfrm>
                <a:off x="6553200" y="2743200"/>
                <a:ext cx="914400" cy="914400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26550B7F-E098-5A4C-ABAA-AD331CBB67E0}"/>
                  </a:ext>
                </a:extLst>
              </p:cNvPr>
              <p:cNvSpPr/>
              <p:nvPr/>
            </p:nvSpPr>
            <p:spPr>
              <a:xfrm>
                <a:off x="4236720" y="2743200"/>
                <a:ext cx="914400" cy="914400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B9DA92C4-1A89-BE48-80BA-C391B04146A0}"/>
                  </a:ext>
                </a:extLst>
              </p:cNvPr>
              <p:cNvSpPr/>
              <p:nvPr/>
            </p:nvSpPr>
            <p:spPr>
              <a:xfrm>
                <a:off x="3606800" y="4196080"/>
                <a:ext cx="914400" cy="914400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90D1DF6E-B356-3B49-B452-19C48F0F605B}"/>
                  </a:ext>
                </a:extLst>
              </p:cNvPr>
              <p:cNvSpPr/>
              <p:nvPr/>
            </p:nvSpPr>
            <p:spPr>
              <a:xfrm>
                <a:off x="4775200" y="4185920"/>
                <a:ext cx="914400" cy="914400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3BAC7168-2C18-934D-8C9A-69A98F35FD3B}"/>
                  </a:ext>
                </a:extLst>
              </p:cNvPr>
              <p:cNvSpPr/>
              <p:nvPr/>
            </p:nvSpPr>
            <p:spPr>
              <a:xfrm>
                <a:off x="5943600" y="4196080"/>
                <a:ext cx="914400" cy="914400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5D320893-E563-F44A-9DFB-17A47A33B8C6}"/>
                  </a:ext>
                </a:extLst>
              </p:cNvPr>
              <p:cNvSpPr/>
              <p:nvPr/>
            </p:nvSpPr>
            <p:spPr>
              <a:xfrm>
                <a:off x="7112000" y="4196080"/>
                <a:ext cx="914400" cy="914400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E94694DE-FB03-8042-A857-913A19441AC2}"/>
                </a:ext>
              </a:extLst>
            </p:cNvPr>
            <p:cNvGrpSpPr/>
            <p:nvPr/>
          </p:nvGrpSpPr>
          <p:grpSpPr>
            <a:xfrm>
              <a:off x="8834388" y="606216"/>
              <a:ext cx="1869946" cy="1747520"/>
              <a:chOff x="3606800" y="1036320"/>
              <a:chExt cx="4419600" cy="4074160"/>
            </a:xfrm>
            <a:solidFill>
              <a:schemeClr val="tx2"/>
            </a:solidFill>
          </p:grpSpPr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CE9160C0-EB13-FF46-931A-4DF6839E4B5C}"/>
                  </a:ext>
                </a:extLst>
              </p:cNvPr>
              <p:cNvSpPr/>
              <p:nvPr/>
            </p:nvSpPr>
            <p:spPr>
              <a:xfrm>
                <a:off x="5364480" y="1036320"/>
                <a:ext cx="914400" cy="914400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13CD164A-B137-2B48-94D4-CA8CCE280572}"/>
                  </a:ext>
                </a:extLst>
              </p:cNvPr>
              <p:cNvCxnSpPr>
                <a:stCxn id="61" idx="3"/>
                <a:endCxn id="69" idx="7"/>
              </p:cNvCxnSpPr>
              <p:nvPr/>
            </p:nvCxnSpPr>
            <p:spPr>
              <a:xfrm flipH="1">
                <a:off x="5017209" y="1816809"/>
                <a:ext cx="481182" cy="1060302"/>
              </a:xfrm>
              <a:prstGeom prst="line">
                <a:avLst/>
              </a:prstGeom>
              <a:grpFill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6B401B48-D8A2-EA4B-9860-581A0A3BBAAF}"/>
                  </a:ext>
                </a:extLst>
              </p:cNvPr>
              <p:cNvCxnSpPr>
                <a:cxnSpLocks/>
                <a:stCxn id="61" idx="5"/>
                <a:endCxn id="68" idx="1"/>
              </p:cNvCxnSpPr>
              <p:nvPr/>
            </p:nvCxnSpPr>
            <p:spPr>
              <a:xfrm>
                <a:off x="6144969" y="1816809"/>
                <a:ext cx="542142" cy="1060302"/>
              </a:xfrm>
              <a:prstGeom prst="line">
                <a:avLst/>
              </a:prstGeom>
              <a:grpFill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92499427-31F7-C144-B776-35E9AEEA0447}"/>
                  </a:ext>
                </a:extLst>
              </p:cNvPr>
              <p:cNvCxnSpPr/>
              <p:nvPr/>
            </p:nvCxnSpPr>
            <p:spPr>
              <a:xfrm flipH="1">
                <a:off x="4089903" y="3391609"/>
                <a:ext cx="481182" cy="1060302"/>
              </a:xfrm>
              <a:prstGeom prst="line">
                <a:avLst/>
              </a:prstGeom>
              <a:grpFill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762F493F-CADB-BC4B-8917-DAD795E6A25F}"/>
                  </a:ext>
                </a:extLst>
              </p:cNvPr>
              <p:cNvCxnSpPr/>
              <p:nvPr/>
            </p:nvCxnSpPr>
            <p:spPr>
              <a:xfrm flipH="1">
                <a:off x="6408214" y="3391609"/>
                <a:ext cx="481182" cy="1060302"/>
              </a:xfrm>
              <a:prstGeom prst="line">
                <a:avLst/>
              </a:prstGeom>
              <a:grpFill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14C5D6DA-48AC-F64A-AC76-DAC92D1035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41010" y="3405431"/>
                <a:ext cx="423470" cy="1046480"/>
              </a:xfrm>
              <a:prstGeom prst="line">
                <a:avLst/>
              </a:prstGeom>
              <a:grpFill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127BA19D-F5D1-BC48-90AF-2323B970DC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45730" y="3398520"/>
                <a:ext cx="423470" cy="1046480"/>
              </a:xfrm>
              <a:prstGeom prst="line">
                <a:avLst/>
              </a:prstGeom>
              <a:grpFill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5D20E379-837C-5741-A891-5AD2D27ADB13}"/>
                  </a:ext>
                </a:extLst>
              </p:cNvPr>
              <p:cNvSpPr/>
              <p:nvPr/>
            </p:nvSpPr>
            <p:spPr>
              <a:xfrm>
                <a:off x="6553200" y="2743200"/>
                <a:ext cx="914400" cy="914400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977051FF-0799-A84C-B559-D3EE4B51C349}"/>
                  </a:ext>
                </a:extLst>
              </p:cNvPr>
              <p:cNvSpPr/>
              <p:nvPr/>
            </p:nvSpPr>
            <p:spPr>
              <a:xfrm>
                <a:off x="4236720" y="2743200"/>
                <a:ext cx="914400" cy="914400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8FA2DDAB-25A0-C146-8822-E707FECE8F0F}"/>
                  </a:ext>
                </a:extLst>
              </p:cNvPr>
              <p:cNvSpPr/>
              <p:nvPr/>
            </p:nvSpPr>
            <p:spPr>
              <a:xfrm>
                <a:off x="3606800" y="4196080"/>
                <a:ext cx="914400" cy="914400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E0602F4F-0E90-8541-8D4E-158DF5C95237}"/>
                  </a:ext>
                </a:extLst>
              </p:cNvPr>
              <p:cNvSpPr/>
              <p:nvPr/>
            </p:nvSpPr>
            <p:spPr>
              <a:xfrm>
                <a:off x="4775200" y="4185920"/>
                <a:ext cx="914400" cy="914400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FFB658C8-107D-FF43-AC37-83E328423F4D}"/>
                  </a:ext>
                </a:extLst>
              </p:cNvPr>
              <p:cNvSpPr/>
              <p:nvPr/>
            </p:nvSpPr>
            <p:spPr>
              <a:xfrm>
                <a:off x="5943600" y="4196080"/>
                <a:ext cx="914400" cy="914400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35C4D028-9B8A-304F-91D7-7FCDFB0A4258}"/>
                  </a:ext>
                </a:extLst>
              </p:cNvPr>
              <p:cNvSpPr/>
              <p:nvPr/>
            </p:nvSpPr>
            <p:spPr>
              <a:xfrm>
                <a:off x="7112000" y="4196080"/>
                <a:ext cx="914400" cy="914400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6" name="Right Arrow 55">
              <a:extLst>
                <a:ext uri="{FF2B5EF4-FFF2-40B4-BE49-F238E27FC236}">
                  <a16:creationId xmlns:a16="http://schemas.microsoft.com/office/drawing/2014/main" id="{330688B4-A452-6F40-A744-C311A0948105}"/>
                </a:ext>
              </a:extLst>
            </p:cNvPr>
            <p:cNvSpPr/>
            <p:nvPr/>
          </p:nvSpPr>
          <p:spPr>
            <a:xfrm>
              <a:off x="2145479" y="1283871"/>
              <a:ext cx="682123" cy="365760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713EC94C-8D12-014D-84C3-87F32AD132FD}"/>
                </a:ext>
              </a:extLst>
            </p:cNvPr>
            <p:cNvSpPr txBox="1"/>
            <p:nvPr/>
          </p:nvSpPr>
          <p:spPr>
            <a:xfrm>
              <a:off x="4471313" y="915100"/>
              <a:ext cx="102731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0" dirty="0"/>
                <a:t>+</a:t>
              </a:r>
            </a:p>
          </p:txBody>
        </p:sp>
        <p:sp>
          <p:nvSpPr>
            <p:cNvPr id="58" name="Right Arrow 57">
              <a:extLst>
                <a:ext uri="{FF2B5EF4-FFF2-40B4-BE49-F238E27FC236}">
                  <a16:creationId xmlns:a16="http://schemas.microsoft.com/office/drawing/2014/main" id="{DB5FD432-2316-FD4A-9219-D27A1AC59B48}"/>
                </a:ext>
              </a:extLst>
            </p:cNvPr>
            <p:cNvSpPr/>
            <p:nvPr/>
          </p:nvSpPr>
          <p:spPr>
            <a:xfrm>
              <a:off x="6826315" y="1294524"/>
              <a:ext cx="682123" cy="365760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70AB831-46F7-2F47-A4E6-5CB898CB2E65}"/>
                </a:ext>
              </a:extLst>
            </p:cNvPr>
            <p:cNvSpPr txBox="1"/>
            <p:nvPr/>
          </p:nvSpPr>
          <p:spPr>
            <a:xfrm>
              <a:off x="8525130" y="969573"/>
              <a:ext cx="102731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0" dirty="0"/>
                <a:t>+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B97D1677-10B8-094C-9931-0F65D5A59E22}"/>
                </a:ext>
              </a:extLst>
            </p:cNvPr>
            <p:cNvSpPr txBox="1"/>
            <p:nvPr/>
          </p:nvSpPr>
          <p:spPr>
            <a:xfrm>
              <a:off x="7751668" y="749458"/>
              <a:ext cx="906094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400" dirty="0"/>
                <a:t>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01684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11" grpId="0"/>
      <p:bldP spid="11" grpId="1"/>
      <p:bldP spid="12" grpId="0"/>
      <p:bldP spid="12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6B31E-3AAF-C745-ADC6-B4737494A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51460"/>
            <a:ext cx="12192000" cy="1485900"/>
          </a:xfrm>
        </p:spPr>
        <p:txBody>
          <a:bodyPr>
            <a:normAutofit/>
          </a:bodyPr>
          <a:lstStyle/>
          <a:p>
            <a:r>
              <a:rPr lang="en-US" sz="3600" b="1" dirty="0"/>
              <a:t>Peptide-MHC </a:t>
            </a:r>
            <a:r>
              <a:rPr lang="en-US" sz="3600" b="1" dirty="0" err="1"/>
              <a:t>CatBoost</a:t>
            </a:r>
            <a:r>
              <a:rPr lang="en-US" sz="3600" b="1" dirty="0"/>
              <a:t>: Evaluation and Cross Validation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6E6E356-03F1-C543-86E6-52C41C130A52}"/>
              </a:ext>
            </a:extLst>
          </p:cNvPr>
          <p:cNvGrpSpPr/>
          <p:nvPr/>
        </p:nvGrpSpPr>
        <p:grpSpPr>
          <a:xfrm>
            <a:off x="450346" y="816622"/>
            <a:ext cx="10920158" cy="3912990"/>
            <a:chOff x="3656" y="1436555"/>
            <a:chExt cx="10920158" cy="391299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FE3C170-41ED-DD49-8FC9-E239564819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3550" y="1673678"/>
              <a:ext cx="5099412" cy="3306535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64BFBFC-122E-F748-8C89-AD8834A4504F}"/>
                </a:ext>
              </a:extLst>
            </p:cNvPr>
            <p:cNvSpPr txBox="1"/>
            <p:nvPr/>
          </p:nvSpPr>
          <p:spPr>
            <a:xfrm>
              <a:off x="2473557" y="4980213"/>
              <a:ext cx="98103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Iterations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BBC560C-E862-2040-917A-3D3937679A88}"/>
                </a:ext>
              </a:extLst>
            </p:cNvPr>
            <p:cNvSpPr txBox="1"/>
            <p:nvPr/>
          </p:nvSpPr>
          <p:spPr>
            <a:xfrm rot="16200000">
              <a:off x="-230557" y="2954534"/>
              <a:ext cx="92903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Accuracy</a:t>
              </a: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C4ADF20-F89E-1744-8E38-A87063D64B5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44028" y="1436555"/>
              <a:ext cx="5179786" cy="391299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3FE4702-BEE8-D240-A2D0-81968B314484}"/>
                </a:ext>
              </a:extLst>
            </p:cNvPr>
            <p:cNvSpPr txBox="1"/>
            <p:nvPr/>
          </p:nvSpPr>
          <p:spPr>
            <a:xfrm>
              <a:off x="1436914" y="1453244"/>
              <a:ext cx="335931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3 Fold Cross Validation Accuracy Score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FF9270B-0E78-3A4C-9E03-A728B1FEB955}"/>
                </a:ext>
              </a:extLst>
            </p:cNvPr>
            <p:cNvSpPr txBox="1"/>
            <p:nvPr/>
          </p:nvSpPr>
          <p:spPr>
            <a:xfrm>
              <a:off x="3656" y="1436555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BAD148B-D897-3B4F-A190-976EDF54942E}"/>
                </a:ext>
              </a:extLst>
            </p:cNvPr>
            <p:cNvSpPr txBox="1"/>
            <p:nvPr/>
          </p:nvSpPr>
          <p:spPr>
            <a:xfrm>
              <a:off x="5562962" y="1436555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E217C4F-9F44-C04F-A236-CAE266DADC8C}"/>
                  </a:ext>
                </a:extLst>
              </p:cNvPr>
              <p:cNvSpPr txBox="1"/>
              <p:nvPr/>
            </p:nvSpPr>
            <p:spPr>
              <a:xfrm>
                <a:off x="6866571" y="4813080"/>
                <a:ext cx="3828080" cy="18868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F1-Score =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𝑃𝑟𝑒𝑐𝑖𝑠𝑖𝑜𝑛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×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𝑅𝑒𝑐𝑎𝑙𝑙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𝑃𝑟𝑒𝑐𝑖𝑠𝑖𝑜𝑛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𝑅𝑒𝑐𝑎𝑙𝑙</m:t>
                        </m:r>
                      </m:den>
                    </m:f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Precision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𝑇𝑟𝑢𝑒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𝑃𝑜𝑠𝑖𝑡𝑖𝑣𝑒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𝑇𝑟𝑢𝑒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𝑃𝑜𝑠𝑖𝑡𝑖𝑣𝑒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𝐹𝑎𝑙𝑠𝑒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𝑃𝑜𝑠𝑖𝑡𝑖𝑣𝑒</m:t>
                        </m:r>
                      </m:den>
                    </m:f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Recall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𝑇𝑟𝑢𝑒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𝑃𝑜𝑠𝑖𝑡𝑖𝑣𝑒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𝑇𝑟𝑢𝑒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𝑃𝑜𝑠𝑖𝑡𝑖𝑣𝑒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𝐹𝑎𝑙𝑠𝑒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𝑁𝑒𝑔𝑎𝑡𝑖𝑣𝑒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E217C4F-9F44-C04F-A236-CAE266DADC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6571" y="4813080"/>
                <a:ext cx="3828080" cy="1886863"/>
              </a:xfrm>
              <a:prstGeom prst="rect">
                <a:avLst/>
              </a:prstGeom>
              <a:blipFill>
                <a:blip r:embed="rId5"/>
                <a:stretch>
                  <a:fillRect l="-1325" b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3843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B6BEF56-3D41-0C42-B140-D36C5955D3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3857401"/>
              </p:ext>
            </p:extLst>
          </p:nvPr>
        </p:nvGraphicFramePr>
        <p:xfrm>
          <a:off x="444328" y="1671595"/>
          <a:ext cx="11245164" cy="4061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44910">
                  <a:extLst>
                    <a:ext uri="{9D8B030D-6E8A-4147-A177-3AD203B41FA5}">
                      <a16:colId xmlns:a16="http://schemas.microsoft.com/office/drawing/2014/main" val="95637705"/>
                    </a:ext>
                  </a:extLst>
                </a:gridCol>
                <a:gridCol w="1292376">
                  <a:extLst>
                    <a:ext uri="{9D8B030D-6E8A-4147-A177-3AD203B41FA5}">
                      <a16:colId xmlns:a16="http://schemas.microsoft.com/office/drawing/2014/main" val="1925603306"/>
                    </a:ext>
                  </a:extLst>
                </a:gridCol>
                <a:gridCol w="1648894">
                  <a:extLst>
                    <a:ext uri="{9D8B030D-6E8A-4147-A177-3AD203B41FA5}">
                      <a16:colId xmlns:a16="http://schemas.microsoft.com/office/drawing/2014/main" val="2770428140"/>
                    </a:ext>
                  </a:extLst>
                </a:gridCol>
                <a:gridCol w="1292376">
                  <a:extLst>
                    <a:ext uri="{9D8B030D-6E8A-4147-A177-3AD203B41FA5}">
                      <a16:colId xmlns:a16="http://schemas.microsoft.com/office/drawing/2014/main" val="2417886037"/>
                    </a:ext>
                  </a:extLst>
                </a:gridCol>
                <a:gridCol w="534777">
                  <a:extLst>
                    <a:ext uri="{9D8B030D-6E8A-4147-A177-3AD203B41FA5}">
                      <a16:colId xmlns:a16="http://schemas.microsoft.com/office/drawing/2014/main" val="3973754214"/>
                    </a:ext>
                  </a:extLst>
                </a:gridCol>
                <a:gridCol w="534777">
                  <a:extLst>
                    <a:ext uri="{9D8B030D-6E8A-4147-A177-3AD203B41FA5}">
                      <a16:colId xmlns:a16="http://schemas.microsoft.com/office/drawing/2014/main" val="3433939492"/>
                    </a:ext>
                  </a:extLst>
                </a:gridCol>
                <a:gridCol w="534777">
                  <a:extLst>
                    <a:ext uri="{9D8B030D-6E8A-4147-A177-3AD203B41FA5}">
                      <a16:colId xmlns:a16="http://schemas.microsoft.com/office/drawing/2014/main" val="1939886357"/>
                    </a:ext>
                  </a:extLst>
                </a:gridCol>
                <a:gridCol w="534777">
                  <a:extLst>
                    <a:ext uri="{9D8B030D-6E8A-4147-A177-3AD203B41FA5}">
                      <a16:colId xmlns:a16="http://schemas.microsoft.com/office/drawing/2014/main" val="4244357343"/>
                    </a:ext>
                  </a:extLst>
                </a:gridCol>
                <a:gridCol w="534777">
                  <a:extLst>
                    <a:ext uri="{9D8B030D-6E8A-4147-A177-3AD203B41FA5}">
                      <a16:colId xmlns:a16="http://schemas.microsoft.com/office/drawing/2014/main" val="2357199409"/>
                    </a:ext>
                  </a:extLst>
                </a:gridCol>
                <a:gridCol w="534777">
                  <a:extLst>
                    <a:ext uri="{9D8B030D-6E8A-4147-A177-3AD203B41FA5}">
                      <a16:colId xmlns:a16="http://schemas.microsoft.com/office/drawing/2014/main" val="2116946119"/>
                    </a:ext>
                  </a:extLst>
                </a:gridCol>
                <a:gridCol w="534777">
                  <a:extLst>
                    <a:ext uri="{9D8B030D-6E8A-4147-A177-3AD203B41FA5}">
                      <a16:colId xmlns:a16="http://schemas.microsoft.com/office/drawing/2014/main" val="1179707119"/>
                    </a:ext>
                  </a:extLst>
                </a:gridCol>
                <a:gridCol w="534777">
                  <a:extLst>
                    <a:ext uri="{9D8B030D-6E8A-4147-A177-3AD203B41FA5}">
                      <a16:colId xmlns:a16="http://schemas.microsoft.com/office/drawing/2014/main" val="4224438718"/>
                    </a:ext>
                  </a:extLst>
                </a:gridCol>
                <a:gridCol w="534777">
                  <a:extLst>
                    <a:ext uri="{9D8B030D-6E8A-4147-A177-3AD203B41FA5}">
                      <a16:colId xmlns:a16="http://schemas.microsoft.com/office/drawing/2014/main" val="4208536081"/>
                    </a:ext>
                  </a:extLst>
                </a:gridCol>
                <a:gridCol w="653615">
                  <a:extLst>
                    <a:ext uri="{9D8B030D-6E8A-4147-A177-3AD203B41FA5}">
                      <a16:colId xmlns:a16="http://schemas.microsoft.com/office/drawing/2014/main" val="967675979"/>
                    </a:ext>
                  </a:extLst>
                </a:gridCol>
              </a:tblGrid>
              <a:tr h="406194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Peptide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HLA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Binding Affinity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Strength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AA1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AA2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AA3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AA4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AA5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AA6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AA7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AA8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AA9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AA10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87598092"/>
                  </a:ext>
                </a:extLst>
              </a:tr>
              <a:tr h="406194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DIVKGLSGY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HLA-B46:01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0.084687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Non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D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I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V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K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G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G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Y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Null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68010895"/>
                  </a:ext>
                </a:extLst>
              </a:tr>
              <a:tr h="406194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QTVEDEARRM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HLA-B57:01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0.26927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Non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Q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V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D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R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R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M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31921369"/>
                  </a:ext>
                </a:extLst>
              </a:tr>
              <a:tr h="406194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YTFAISYCR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HLA-A33:01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0.949341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Strong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Y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F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I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Y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C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R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Null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79156672"/>
                  </a:ext>
                </a:extLst>
              </a:tr>
              <a:tr h="406194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ETIEEPAEVE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HLA-B15:01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0.084687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Non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I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V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41589478"/>
                  </a:ext>
                </a:extLst>
              </a:tr>
              <a:tr h="406194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SLSAYIIRVT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HLA-A02:01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0.335903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Non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Y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I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I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R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V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42271413"/>
                  </a:ext>
                </a:extLst>
              </a:tr>
              <a:tr h="406194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RIKTRLFTI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HLA-B18:01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0.084687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Non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R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I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K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R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F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I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Null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03282704"/>
                  </a:ext>
                </a:extLst>
              </a:tr>
              <a:tr h="406194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LIVSLCPTK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HLA-A11:01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0.568492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Weak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I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V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C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K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Null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08520467"/>
                  </a:ext>
                </a:extLst>
              </a:tr>
              <a:tr h="406194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ETGKSIHFV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HLA-A26:01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0.169373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Non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G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K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I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H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F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V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Null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58900834"/>
                  </a:ext>
                </a:extLst>
              </a:tr>
              <a:tr h="406194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AAAYFVGYLK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HLA-A11:01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Strong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Y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F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V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G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Y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K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9780775"/>
                  </a:ext>
                </a:extLst>
              </a:tr>
            </a:tbl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E2C3838C-9917-3B42-882A-48360D39E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433" y="-332841"/>
            <a:ext cx="10797966" cy="1485900"/>
          </a:xfrm>
        </p:spPr>
        <p:txBody>
          <a:bodyPr>
            <a:normAutofit/>
          </a:bodyPr>
          <a:lstStyle/>
          <a:p>
            <a:r>
              <a:rPr lang="en-US" sz="3600" b="1" dirty="0"/>
              <a:t>Peptide-MHC </a:t>
            </a:r>
            <a:r>
              <a:rPr lang="en-US" sz="3600" b="1" dirty="0" err="1"/>
              <a:t>CatBoost</a:t>
            </a:r>
            <a:r>
              <a:rPr lang="en-US" sz="3600" b="1" dirty="0"/>
              <a:t> Model Improvements</a:t>
            </a:r>
          </a:p>
        </p:txBody>
      </p:sp>
      <p:sp>
        <p:nvSpPr>
          <p:cNvPr id="13" name="U-Turn Arrow 12">
            <a:extLst>
              <a:ext uri="{FF2B5EF4-FFF2-40B4-BE49-F238E27FC236}">
                <a16:creationId xmlns:a16="http://schemas.microsoft.com/office/drawing/2014/main" id="{981B1ECE-7401-8F4E-A0A1-C1D7A36B678A}"/>
              </a:ext>
            </a:extLst>
          </p:cNvPr>
          <p:cNvSpPr/>
          <p:nvPr/>
        </p:nvSpPr>
        <p:spPr>
          <a:xfrm>
            <a:off x="1013254" y="889686"/>
            <a:ext cx="5560541" cy="593125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3750"/>
              <a:gd name="adj5" fmla="val 1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4812D6A-CE13-4545-9A5E-A971E3A7E9B6}"/>
              </a:ext>
            </a:extLst>
          </p:cNvPr>
          <p:cNvGrpSpPr/>
          <p:nvPr/>
        </p:nvGrpSpPr>
        <p:grpSpPr>
          <a:xfrm>
            <a:off x="406387" y="1444228"/>
            <a:ext cx="11201971" cy="4161478"/>
            <a:chOff x="-66053" y="1444228"/>
            <a:chExt cx="11201971" cy="4161478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62F398E-7D99-D54A-889E-012EE0FEDB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4584" y="1946735"/>
              <a:ext cx="5120821" cy="3320417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F9E9B60-A337-B945-82B6-2A9BF6B33D05}"/>
                </a:ext>
              </a:extLst>
            </p:cNvPr>
            <p:cNvSpPr txBox="1"/>
            <p:nvPr/>
          </p:nvSpPr>
          <p:spPr>
            <a:xfrm rot="16200000">
              <a:off x="-114600" y="3259335"/>
              <a:ext cx="92903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Accuracy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A559577-2C9B-AC48-BFC5-EF71C7A45A3C}"/>
                </a:ext>
              </a:extLst>
            </p:cNvPr>
            <p:cNvSpPr txBox="1"/>
            <p:nvPr/>
          </p:nvSpPr>
          <p:spPr>
            <a:xfrm>
              <a:off x="2555295" y="5267152"/>
              <a:ext cx="98103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Iterations</a:t>
              </a: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88A32993-B6D5-934F-BCF0-DB5004632ED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33439" y="1675573"/>
              <a:ext cx="5202479" cy="3930133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B5EADE0-B8D1-644F-92AA-F60902E15072}"/>
                </a:ext>
              </a:extLst>
            </p:cNvPr>
            <p:cNvSpPr/>
            <p:nvPr/>
          </p:nvSpPr>
          <p:spPr>
            <a:xfrm>
              <a:off x="1375569" y="1675573"/>
              <a:ext cx="335931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/>
                <a:t>3 Fold Cross Validation Accuracy Score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B898795-878A-924A-B4C9-3BF573047524}"/>
                </a:ext>
              </a:extLst>
            </p:cNvPr>
            <p:cNvSpPr txBox="1"/>
            <p:nvPr/>
          </p:nvSpPr>
          <p:spPr>
            <a:xfrm>
              <a:off x="-66053" y="1444228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F7ADBAA-9A07-0046-9678-02688DBC6A9E}"/>
                </a:ext>
              </a:extLst>
            </p:cNvPr>
            <p:cNvSpPr txBox="1"/>
            <p:nvPr/>
          </p:nvSpPr>
          <p:spPr>
            <a:xfrm>
              <a:off x="5933439" y="1444228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56788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787B1-23F7-144C-A5F0-0D6844AA8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6473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/>
              <a:t>Peptide-TCR Binding Data Preparation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B394F1C-2FEF-7449-A481-11D36182F7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2423819"/>
              </p:ext>
            </p:extLst>
          </p:nvPr>
        </p:nvGraphicFramePr>
        <p:xfrm>
          <a:off x="212452" y="1249090"/>
          <a:ext cx="7864748" cy="44405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44025">
                  <a:extLst>
                    <a:ext uri="{9D8B030D-6E8A-4147-A177-3AD203B41FA5}">
                      <a16:colId xmlns:a16="http://schemas.microsoft.com/office/drawing/2014/main" val="3371202237"/>
                    </a:ext>
                  </a:extLst>
                </a:gridCol>
                <a:gridCol w="1713719">
                  <a:extLst>
                    <a:ext uri="{9D8B030D-6E8A-4147-A177-3AD203B41FA5}">
                      <a16:colId xmlns:a16="http://schemas.microsoft.com/office/drawing/2014/main" val="2288403701"/>
                    </a:ext>
                  </a:extLst>
                </a:gridCol>
                <a:gridCol w="1909573">
                  <a:extLst>
                    <a:ext uri="{9D8B030D-6E8A-4147-A177-3AD203B41FA5}">
                      <a16:colId xmlns:a16="http://schemas.microsoft.com/office/drawing/2014/main" val="2912313409"/>
                    </a:ext>
                  </a:extLst>
                </a:gridCol>
                <a:gridCol w="1597431">
                  <a:extLst>
                    <a:ext uri="{9D8B030D-6E8A-4147-A177-3AD203B41FA5}">
                      <a16:colId xmlns:a16="http://schemas.microsoft.com/office/drawing/2014/main" val="3698992201"/>
                    </a:ext>
                  </a:extLst>
                </a:gridCol>
              </a:tblGrid>
              <a:tr h="444051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 dirty="0">
                          <a:effectLst/>
                        </a:rPr>
                        <a:t>CDR3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 dirty="0">
                          <a:effectLst/>
                        </a:rPr>
                        <a:t>HLA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 dirty="0">
                          <a:effectLst/>
                        </a:rPr>
                        <a:t>Peptide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 dirty="0">
                          <a:effectLst/>
                        </a:rPr>
                        <a:t>Binding?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58513348"/>
                  </a:ext>
                </a:extLst>
              </a:tr>
              <a:tr h="444051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AQGLLTGGGNKLTF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HLA-A*02:01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RLGPVQNEV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Binding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94596619"/>
                  </a:ext>
                </a:extLst>
              </a:tr>
              <a:tr h="444051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ASMFSGGGNEKFTF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HLA-A*02:01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RLGPVQNEV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Binding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862795"/>
                  </a:ext>
                </a:extLst>
              </a:tr>
              <a:tr h="444051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ASMYKGGGNEKFTF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HLA-A*02:01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RLGPVQNEV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Binding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44350507"/>
                  </a:ext>
                </a:extLst>
              </a:tr>
              <a:tr h="444051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CAAAASGGSYIPTF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HLA-B*35:01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EPLPQGQLTAY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Binding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38244485"/>
                  </a:ext>
                </a:extLst>
              </a:tr>
              <a:tr h="444051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CAAAATPGNTGKLIF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HLA-A*02:01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GILGFVFTL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Binding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01444198"/>
                  </a:ext>
                </a:extLst>
              </a:tr>
              <a:tr h="444051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CAAAAYNQGGKLIF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HLA-A*03:01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KLGGALQAK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Binding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58182886"/>
                  </a:ext>
                </a:extLst>
              </a:tr>
              <a:tr h="444051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CAAADDKIIF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HLA-A*02:01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LLWNGPMAV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Binding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14558209"/>
                  </a:ext>
                </a:extLst>
              </a:tr>
              <a:tr h="444051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CAAADEEIGNQPQHF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HLA-A*01:01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ATDALMTGY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Binding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70645176"/>
                  </a:ext>
                </a:extLst>
              </a:tr>
              <a:tr h="444051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CAAADNYGQNFVF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HLA-A*11:01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AVFDRKSDAK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Binding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57185314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50A45F0-D5DA-4642-8268-C8C8CCA2C9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5838504"/>
              </p:ext>
            </p:extLst>
          </p:nvPr>
        </p:nvGraphicFramePr>
        <p:xfrm>
          <a:off x="212452" y="1249090"/>
          <a:ext cx="7864748" cy="44405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44026">
                  <a:extLst>
                    <a:ext uri="{9D8B030D-6E8A-4147-A177-3AD203B41FA5}">
                      <a16:colId xmlns:a16="http://schemas.microsoft.com/office/drawing/2014/main" val="62248812"/>
                    </a:ext>
                  </a:extLst>
                </a:gridCol>
                <a:gridCol w="1713719">
                  <a:extLst>
                    <a:ext uri="{9D8B030D-6E8A-4147-A177-3AD203B41FA5}">
                      <a16:colId xmlns:a16="http://schemas.microsoft.com/office/drawing/2014/main" val="3383908387"/>
                    </a:ext>
                  </a:extLst>
                </a:gridCol>
                <a:gridCol w="1909572">
                  <a:extLst>
                    <a:ext uri="{9D8B030D-6E8A-4147-A177-3AD203B41FA5}">
                      <a16:colId xmlns:a16="http://schemas.microsoft.com/office/drawing/2014/main" val="3484373089"/>
                    </a:ext>
                  </a:extLst>
                </a:gridCol>
                <a:gridCol w="1597431">
                  <a:extLst>
                    <a:ext uri="{9D8B030D-6E8A-4147-A177-3AD203B41FA5}">
                      <a16:colId xmlns:a16="http://schemas.microsoft.com/office/drawing/2014/main" val="1726093061"/>
                    </a:ext>
                  </a:extLst>
                </a:gridCol>
              </a:tblGrid>
              <a:tr h="444051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 dirty="0">
                          <a:effectLst/>
                        </a:rPr>
                        <a:t>CDR3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 dirty="0">
                          <a:effectLst/>
                        </a:rPr>
                        <a:t>HLA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 dirty="0">
                          <a:effectLst/>
                        </a:rPr>
                        <a:t>Peptide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 dirty="0">
                          <a:effectLst/>
                        </a:rPr>
                        <a:t>Binding?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67075294"/>
                  </a:ext>
                </a:extLst>
              </a:tr>
              <a:tr h="444051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AQGLLTGGGNKLTF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HLA-A*02:01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RLGPVQNEV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Binding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92429663"/>
                  </a:ext>
                </a:extLst>
              </a:tr>
              <a:tr h="444051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ASMFSGGGNEKFTF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HLA-A*02:01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RLGPVQNEV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Binding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92633073"/>
                  </a:ext>
                </a:extLst>
              </a:tr>
              <a:tr h="444051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ASMYKGGGNEKFTF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HLA-A*02:01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RLGPVQNEV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Binding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85148932"/>
                  </a:ext>
                </a:extLst>
              </a:tr>
              <a:tr h="444051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CAAAASGGSYIPTF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HLA-B*35:01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EPLPQGQLTAY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Binding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82220874"/>
                  </a:ext>
                </a:extLst>
              </a:tr>
              <a:tr h="444051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CAAAATPGNTGKLIF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HLA-A*02:01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GILGFVFTL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Binding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72296111"/>
                  </a:ext>
                </a:extLst>
              </a:tr>
              <a:tr h="444051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CAAAAYNQGGKLIF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HLA-A*03:01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KLGGALQAK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Binding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25312439"/>
                  </a:ext>
                </a:extLst>
              </a:tr>
              <a:tr h="444051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CAAADDKIIF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HLA-A*02:01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LLWNGPMAV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Binding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71166420"/>
                  </a:ext>
                </a:extLst>
              </a:tr>
              <a:tr h="444051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CAAADEEIGNQPQHF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HLA-A*01:01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ATDALMTGY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Binding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93036521"/>
                  </a:ext>
                </a:extLst>
              </a:tr>
              <a:tr h="444051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CAAADNYGQNFVF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HLA-A*11:01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AVFDRKSDAK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Binding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53217288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3135FF1-16A8-854F-9E87-E67B4F3803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5234563"/>
              </p:ext>
            </p:extLst>
          </p:nvPr>
        </p:nvGraphicFramePr>
        <p:xfrm>
          <a:off x="212452" y="1249090"/>
          <a:ext cx="7864748" cy="44405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44025">
                  <a:extLst>
                    <a:ext uri="{9D8B030D-6E8A-4147-A177-3AD203B41FA5}">
                      <a16:colId xmlns:a16="http://schemas.microsoft.com/office/drawing/2014/main" val="3371202237"/>
                    </a:ext>
                  </a:extLst>
                </a:gridCol>
                <a:gridCol w="1713719">
                  <a:extLst>
                    <a:ext uri="{9D8B030D-6E8A-4147-A177-3AD203B41FA5}">
                      <a16:colId xmlns:a16="http://schemas.microsoft.com/office/drawing/2014/main" val="2288403701"/>
                    </a:ext>
                  </a:extLst>
                </a:gridCol>
                <a:gridCol w="1909573">
                  <a:extLst>
                    <a:ext uri="{9D8B030D-6E8A-4147-A177-3AD203B41FA5}">
                      <a16:colId xmlns:a16="http://schemas.microsoft.com/office/drawing/2014/main" val="2912313409"/>
                    </a:ext>
                  </a:extLst>
                </a:gridCol>
                <a:gridCol w="1597431">
                  <a:extLst>
                    <a:ext uri="{9D8B030D-6E8A-4147-A177-3AD203B41FA5}">
                      <a16:colId xmlns:a16="http://schemas.microsoft.com/office/drawing/2014/main" val="3698992201"/>
                    </a:ext>
                  </a:extLst>
                </a:gridCol>
              </a:tblGrid>
              <a:tr h="444051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 dirty="0">
                          <a:effectLst/>
                        </a:rPr>
                        <a:t>CDR3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 dirty="0">
                          <a:effectLst/>
                        </a:rPr>
                        <a:t>HLA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 dirty="0">
                          <a:effectLst/>
                        </a:rPr>
                        <a:t>Peptide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 dirty="0">
                          <a:effectLst/>
                        </a:rPr>
                        <a:t>Binding?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58513348"/>
                  </a:ext>
                </a:extLst>
              </a:tr>
              <a:tr h="444051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AQGLLTGGGNKLTF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HLA-A*02:01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RLGPVQNEV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Binding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94596619"/>
                  </a:ext>
                </a:extLst>
              </a:tr>
              <a:tr h="444051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ASMFSGGGNEKFTF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HLA-A*02:01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RLGPVQNEV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Binding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862795"/>
                  </a:ext>
                </a:extLst>
              </a:tr>
              <a:tr h="444051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ASMYKGGGNEKFTF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HLA-A*02:01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RLGPVQNEV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Binding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44350507"/>
                  </a:ext>
                </a:extLst>
              </a:tr>
              <a:tr h="444051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CAAAASGGSYIPTF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HLA-B*35:01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EPLPQGQLTAY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Binding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38244485"/>
                  </a:ext>
                </a:extLst>
              </a:tr>
              <a:tr h="444051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CAAAATPGNTGKLIF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HLA-A*02:01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GILGFVFTL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Binding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01444198"/>
                  </a:ext>
                </a:extLst>
              </a:tr>
              <a:tr h="444051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CAAAAYNQGGKLIF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HLA-A*03:01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KLGGALQAK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Binding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58182886"/>
                  </a:ext>
                </a:extLst>
              </a:tr>
              <a:tr h="444051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CAAADDKIIF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HLA-A*02:01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LLWNGPMAV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Binding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14558209"/>
                  </a:ext>
                </a:extLst>
              </a:tr>
              <a:tr h="444051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CAAADEEIGNQPQHF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HLA-A*01:01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ATDALMTGY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Binding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70645176"/>
                  </a:ext>
                </a:extLst>
              </a:tr>
              <a:tr h="444051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CAAADNYGQNFVF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HLA-A*11:01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AVFDRKSDAK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Binding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5718531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880EC0B-7527-7C46-B592-0ED827BC67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8589291"/>
              </p:ext>
            </p:extLst>
          </p:nvPr>
        </p:nvGraphicFramePr>
        <p:xfrm>
          <a:off x="212452" y="5706653"/>
          <a:ext cx="7864748" cy="328387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2644025">
                  <a:extLst>
                    <a:ext uri="{9D8B030D-6E8A-4147-A177-3AD203B41FA5}">
                      <a16:colId xmlns:a16="http://schemas.microsoft.com/office/drawing/2014/main" val="478940420"/>
                    </a:ext>
                  </a:extLst>
                </a:gridCol>
                <a:gridCol w="1713719">
                  <a:extLst>
                    <a:ext uri="{9D8B030D-6E8A-4147-A177-3AD203B41FA5}">
                      <a16:colId xmlns:a16="http://schemas.microsoft.com/office/drawing/2014/main" val="1914451021"/>
                    </a:ext>
                  </a:extLst>
                </a:gridCol>
                <a:gridCol w="1909573">
                  <a:extLst>
                    <a:ext uri="{9D8B030D-6E8A-4147-A177-3AD203B41FA5}">
                      <a16:colId xmlns:a16="http://schemas.microsoft.com/office/drawing/2014/main" val="4149752977"/>
                    </a:ext>
                  </a:extLst>
                </a:gridCol>
                <a:gridCol w="1597431">
                  <a:extLst>
                    <a:ext uri="{9D8B030D-6E8A-4147-A177-3AD203B41FA5}">
                      <a16:colId xmlns:a16="http://schemas.microsoft.com/office/drawing/2014/main" val="1935560434"/>
                    </a:ext>
                  </a:extLst>
                </a:gridCol>
              </a:tblGrid>
              <a:tr h="32838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AQGLLTGGGNKLTF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HLA-B*35:01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ATDALMTGY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Non-Binding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4834966"/>
                  </a:ext>
                </a:extLst>
              </a:tr>
            </a:tbl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42F56037-7B24-B040-B77E-C25C001BBD88}"/>
              </a:ext>
            </a:extLst>
          </p:cNvPr>
          <p:cNvGrpSpPr/>
          <p:nvPr/>
        </p:nvGrpSpPr>
        <p:grpSpPr>
          <a:xfrm>
            <a:off x="8077200" y="3469345"/>
            <a:ext cx="6671467" cy="1252171"/>
            <a:chOff x="289828" y="551743"/>
            <a:chExt cx="10414506" cy="1801993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36A61BC-D594-E342-931F-66E275F888EE}"/>
                </a:ext>
              </a:extLst>
            </p:cNvPr>
            <p:cNvGrpSpPr/>
            <p:nvPr/>
          </p:nvGrpSpPr>
          <p:grpSpPr>
            <a:xfrm>
              <a:off x="289828" y="551743"/>
              <a:ext cx="1869946" cy="1747520"/>
              <a:chOff x="3606800" y="1036320"/>
              <a:chExt cx="4419600" cy="4074160"/>
            </a:xfrm>
          </p:grpSpPr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A56A6CA4-A110-504F-9E0B-13C93488009C}"/>
                  </a:ext>
                </a:extLst>
              </p:cNvPr>
              <p:cNvSpPr/>
              <p:nvPr/>
            </p:nvSpPr>
            <p:spPr>
              <a:xfrm>
                <a:off x="5364480" y="1036320"/>
                <a:ext cx="914400" cy="914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E73FB77B-9DFA-8B40-8523-52C7E6EE7995}"/>
                  </a:ext>
                </a:extLst>
              </p:cNvPr>
              <p:cNvCxnSpPr>
                <a:stCxn id="59" idx="3"/>
                <a:endCxn id="67" idx="7"/>
              </p:cNvCxnSpPr>
              <p:nvPr/>
            </p:nvCxnSpPr>
            <p:spPr>
              <a:xfrm flipH="1">
                <a:off x="5017209" y="1816809"/>
                <a:ext cx="481182" cy="106030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89627B49-8C0A-3E48-9EC3-C84ACA45C992}"/>
                  </a:ext>
                </a:extLst>
              </p:cNvPr>
              <p:cNvCxnSpPr>
                <a:cxnSpLocks/>
                <a:stCxn id="59" idx="5"/>
                <a:endCxn id="66" idx="1"/>
              </p:cNvCxnSpPr>
              <p:nvPr/>
            </p:nvCxnSpPr>
            <p:spPr>
              <a:xfrm>
                <a:off x="6144969" y="1816809"/>
                <a:ext cx="542142" cy="106030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D56B10E6-2588-6B42-9260-F00C6DD3C001}"/>
                  </a:ext>
                </a:extLst>
              </p:cNvPr>
              <p:cNvCxnSpPr/>
              <p:nvPr/>
            </p:nvCxnSpPr>
            <p:spPr>
              <a:xfrm flipH="1">
                <a:off x="4089903" y="3391609"/>
                <a:ext cx="481182" cy="106030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779E1E1D-93EF-DB46-91C6-4DA191ED849D}"/>
                  </a:ext>
                </a:extLst>
              </p:cNvPr>
              <p:cNvCxnSpPr/>
              <p:nvPr/>
            </p:nvCxnSpPr>
            <p:spPr>
              <a:xfrm flipH="1">
                <a:off x="6408214" y="3391609"/>
                <a:ext cx="481182" cy="106030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3EA48A05-3B97-B843-831E-8546FE08A3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41010" y="3405431"/>
                <a:ext cx="423470" cy="104648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17660BC6-5303-7A42-83BE-21008D0CFDA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45730" y="3398520"/>
                <a:ext cx="423470" cy="104648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E1170240-4F42-B241-8F7B-F728F75734C5}"/>
                  </a:ext>
                </a:extLst>
              </p:cNvPr>
              <p:cNvSpPr/>
              <p:nvPr/>
            </p:nvSpPr>
            <p:spPr>
              <a:xfrm>
                <a:off x="6553200" y="2743200"/>
                <a:ext cx="914400" cy="914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7DB6015B-BE84-AF45-B33F-267E8D08D3D8}"/>
                  </a:ext>
                </a:extLst>
              </p:cNvPr>
              <p:cNvSpPr/>
              <p:nvPr/>
            </p:nvSpPr>
            <p:spPr>
              <a:xfrm>
                <a:off x="4236720" y="2743200"/>
                <a:ext cx="914400" cy="914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D1BB5A7A-81D2-B94D-B5B0-4F2730CED672}"/>
                  </a:ext>
                </a:extLst>
              </p:cNvPr>
              <p:cNvSpPr/>
              <p:nvPr/>
            </p:nvSpPr>
            <p:spPr>
              <a:xfrm>
                <a:off x="3606800" y="4196080"/>
                <a:ext cx="914400" cy="914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077CB730-70B5-6B47-B952-029329250E31}"/>
                  </a:ext>
                </a:extLst>
              </p:cNvPr>
              <p:cNvSpPr/>
              <p:nvPr/>
            </p:nvSpPr>
            <p:spPr>
              <a:xfrm>
                <a:off x="4775200" y="4185920"/>
                <a:ext cx="914400" cy="914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D485E098-DB28-3A4E-901A-53E845F0738F}"/>
                  </a:ext>
                </a:extLst>
              </p:cNvPr>
              <p:cNvSpPr/>
              <p:nvPr/>
            </p:nvSpPr>
            <p:spPr>
              <a:xfrm>
                <a:off x="5943600" y="4196080"/>
                <a:ext cx="914400" cy="914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95685A24-6D1B-1042-9E78-B6619F867A4A}"/>
                  </a:ext>
                </a:extLst>
              </p:cNvPr>
              <p:cNvSpPr/>
              <p:nvPr/>
            </p:nvSpPr>
            <p:spPr>
              <a:xfrm>
                <a:off x="7112000" y="4196080"/>
                <a:ext cx="914400" cy="914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BA53EAA4-8898-5A42-B87A-5327AE3D9933}"/>
                </a:ext>
              </a:extLst>
            </p:cNvPr>
            <p:cNvGrpSpPr/>
            <p:nvPr/>
          </p:nvGrpSpPr>
          <p:grpSpPr>
            <a:xfrm>
              <a:off x="2697748" y="551743"/>
              <a:ext cx="1869946" cy="1747520"/>
              <a:chOff x="3606800" y="1036320"/>
              <a:chExt cx="4419600" cy="4074160"/>
            </a:xfrm>
          </p:grpSpPr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DB7F2616-6A62-2547-9EB4-8ACD6D5C0BC4}"/>
                  </a:ext>
                </a:extLst>
              </p:cNvPr>
              <p:cNvSpPr/>
              <p:nvPr/>
            </p:nvSpPr>
            <p:spPr>
              <a:xfrm>
                <a:off x="5364480" y="1036320"/>
                <a:ext cx="914400" cy="914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BB4997E6-FBF9-DD44-8D60-809C915E654A}"/>
                  </a:ext>
                </a:extLst>
              </p:cNvPr>
              <p:cNvCxnSpPr>
                <a:stCxn id="46" idx="3"/>
                <a:endCxn id="54" idx="7"/>
              </p:cNvCxnSpPr>
              <p:nvPr/>
            </p:nvCxnSpPr>
            <p:spPr>
              <a:xfrm flipH="1">
                <a:off x="5017209" y="1816809"/>
                <a:ext cx="481182" cy="106030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4AD26B78-ED12-AB4D-B243-59E19BD56CB7}"/>
                  </a:ext>
                </a:extLst>
              </p:cNvPr>
              <p:cNvCxnSpPr>
                <a:cxnSpLocks/>
                <a:stCxn id="46" idx="5"/>
                <a:endCxn id="53" idx="1"/>
              </p:cNvCxnSpPr>
              <p:nvPr/>
            </p:nvCxnSpPr>
            <p:spPr>
              <a:xfrm>
                <a:off x="6144969" y="1816809"/>
                <a:ext cx="542142" cy="106030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6A615261-61BD-1148-8414-9AA34262B070}"/>
                  </a:ext>
                </a:extLst>
              </p:cNvPr>
              <p:cNvCxnSpPr/>
              <p:nvPr/>
            </p:nvCxnSpPr>
            <p:spPr>
              <a:xfrm flipH="1">
                <a:off x="4089903" y="3391609"/>
                <a:ext cx="481182" cy="106030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11BED1AA-6B63-C64E-847F-1DAD04AD2C7A}"/>
                  </a:ext>
                </a:extLst>
              </p:cNvPr>
              <p:cNvCxnSpPr/>
              <p:nvPr/>
            </p:nvCxnSpPr>
            <p:spPr>
              <a:xfrm flipH="1">
                <a:off x="6408214" y="3391609"/>
                <a:ext cx="481182" cy="106030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FF287075-3117-DF49-8064-6C72D92C83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41010" y="3405431"/>
                <a:ext cx="423470" cy="104648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8C9AB659-8913-D64B-B31C-0E6DF122A4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45730" y="3398520"/>
                <a:ext cx="423470" cy="104648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3E91E9F7-0335-474A-8437-C442D77396B4}"/>
                  </a:ext>
                </a:extLst>
              </p:cNvPr>
              <p:cNvSpPr/>
              <p:nvPr/>
            </p:nvSpPr>
            <p:spPr>
              <a:xfrm>
                <a:off x="6553200" y="2743200"/>
                <a:ext cx="914400" cy="914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EE5B7FBA-F339-9440-A119-35A9876ED798}"/>
                  </a:ext>
                </a:extLst>
              </p:cNvPr>
              <p:cNvSpPr/>
              <p:nvPr/>
            </p:nvSpPr>
            <p:spPr>
              <a:xfrm>
                <a:off x="4236720" y="2743200"/>
                <a:ext cx="914400" cy="914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72BC7070-CAAE-3841-89DC-B0BC0AFE91BB}"/>
                  </a:ext>
                </a:extLst>
              </p:cNvPr>
              <p:cNvSpPr/>
              <p:nvPr/>
            </p:nvSpPr>
            <p:spPr>
              <a:xfrm>
                <a:off x="3606800" y="4196080"/>
                <a:ext cx="914400" cy="914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EFE83997-B5F7-9D45-BD7D-B68C33895A34}"/>
                  </a:ext>
                </a:extLst>
              </p:cNvPr>
              <p:cNvSpPr/>
              <p:nvPr/>
            </p:nvSpPr>
            <p:spPr>
              <a:xfrm>
                <a:off x="4775200" y="4185920"/>
                <a:ext cx="914400" cy="914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F55134A1-6CE4-E44B-AA5B-5650085223AE}"/>
                  </a:ext>
                </a:extLst>
              </p:cNvPr>
              <p:cNvSpPr/>
              <p:nvPr/>
            </p:nvSpPr>
            <p:spPr>
              <a:xfrm>
                <a:off x="5943600" y="4196080"/>
                <a:ext cx="914400" cy="914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B1B8C100-E353-A848-A12E-4CD23D537F56}"/>
                  </a:ext>
                </a:extLst>
              </p:cNvPr>
              <p:cNvSpPr/>
              <p:nvPr/>
            </p:nvSpPr>
            <p:spPr>
              <a:xfrm>
                <a:off x="7112000" y="4196080"/>
                <a:ext cx="914400" cy="914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3CBDC9D7-0AEB-0F43-A92A-11DA63B60E59}"/>
                </a:ext>
              </a:extLst>
            </p:cNvPr>
            <p:cNvGrpSpPr/>
            <p:nvPr/>
          </p:nvGrpSpPr>
          <p:grpSpPr>
            <a:xfrm>
              <a:off x="4786012" y="551743"/>
              <a:ext cx="1869946" cy="1747520"/>
              <a:chOff x="3606800" y="1036320"/>
              <a:chExt cx="4419600" cy="4074160"/>
            </a:xfrm>
            <a:solidFill>
              <a:schemeClr val="accent2"/>
            </a:solidFill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47F43B43-8502-CF49-AE7E-5FDAFEA84570}"/>
                  </a:ext>
                </a:extLst>
              </p:cNvPr>
              <p:cNvSpPr/>
              <p:nvPr/>
            </p:nvSpPr>
            <p:spPr>
              <a:xfrm>
                <a:off x="5364480" y="1036320"/>
                <a:ext cx="914400" cy="914400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152C975E-3870-894E-942B-CCEBC05A4767}"/>
                  </a:ext>
                </a:extLst>
              </p:cNvPr>
              <p:cNvCxnSpPr>
                <a:stCxn id="33" idx="3"/>
                <a:endCxn id="41" idx="7"/>
              </p:cNvCxnSpPr>
              <p:nvPr/>
            </p:nvCxnSpPr>
            <p:spPr>
              <a:xfrm flipH="1">
                <a:off x="5017209" y="1816809"/>
                <a:ext cx="481182" cy="1060302"/>
              </a:xfrm>
              <a:prstGeom prst="line">
                <a:avLst/>
              </a:prstGeom>
              <a:grpFill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DC1F55D1-135D-B149-A487-5E96F69D1086}"/>
                  </a:ext>
                </a:extLst>
              </p:cNvPr>
              <p:cNvCxnSpPr>
                <a:cxnSpLocks/>
                <a:stCxn id="33" idx="5"/>
                <a:endCxn id="40" idx="1"/>
              </p:cNvCxnSpPr>
              <p:nvPr/>
            </p:nvCxnSpPr>
            <p:spPr>
              <a:xfrm>
                <a:off x="6144969" y="1816809"/>
                <a:ext cx="542142" cy="1060302"/>
              </a:xfrm>
              <a:prstGeom prst="line">
                <a:avLst/>
              </a:prstGeom>
              <a:grpFill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F988F6E0-583B-1E47-BBC7-9AB56B800172}"/>
                  </a:ext>
                </a:extLst>
              </p:cNvPr>
              <p:cNvCxnSpPr/>
              <p:nvPr/>
            </p:nvCxnSpPr>
            <p:spPr>
              <a:xfrm flipH="1">
                <a:off x="4089903" y="3391609"/>
                <a:ext cx="481182" cy="1060302"/>
              </a:xfrm>
              <a:prstGeom prst="line">
                <a:avLst/>
              </a:prstGeom>
              <a:grpFill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3F1E61FA-1C4D-9D4F-8A51-32D94D9EDCB6}"/>
                  </a:ext>
                </a:extLst>
              </p:cNvPr>
              <p:cNvCxnSpPr/>
              <p:nvPr/>
            </p:nvCxnSpPr>
            <p:spPr>
              <a:xfrm flipH="1">
                <a:off x="6408214" y="3391609"/>
                <a:ext cx="481182" cy="1060302"/>
              </a:xfrm>
              <a:prstGeom prst="line">
                <a:avLst/>
              </a:prstGeom>
              <a:grpFill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0625419F-2C9A-7941-9C84-EF4BC3D53E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41010" y="3405431"/>
                <a:ext cx="423470" cy="1046480"/>
              </a:xfrm>
              <a:prstGeom prst="line">
                <a:avLst/>
              </a:prstGeom>
              <a:grpFill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F463F74F-1586-0443-9585-7190E1740E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45730" y="3398520"/>
                <a:ext cx="423470" cy="1046480"/>
              </a:xfrm>
              <a:prstGeom prst="line">
                <a:avLst/>
              </a:prstGeom>
              <a:grpFill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D038531E-F1E8-6B40-B125-FE44A4F3F6D9}"/>
                  </a:ext>
                </a:extLst>
              </p:cNvPr>
              <p:cNvSpPr/>
              <p:nvPr/>
            </p:nvSpPr>
            <p:spPr>
              <a:xfrm>
                <a:off x="6553200" y="2743200"/>
                <a:ext cx="914400" cy="914400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D39540E2-7D2F-5C41-B111-2E8E7F2E799F}"/>
                  </a:ext>
                </a:extLst>
              </p:cNvPr>
              <p:cNvSpPr/>
              <p:nvPr/>
            </p:nvSpPr>
            <p:spPr>
              <a:xfrm>
                <a:off x="4236720" y="2743200"/>
                <a:ext cx="914400" cy="914400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B9BFA86-9229-AA42-A1A4-AF423694D3B8}"/>
                  </a:ext>
                </a:extLst>
              </p:cNvPr>
              <p:cNvSpPr/>
              <p:nvPr/>
            </p:nvSpPr>
            <p:spPr>
              <a:xfrm>
                <a:off x="3606800" y="4196080"/>
                <a:ext cx="914400" cy="914400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30E7D52C-1F54-AE48-B88C-77401BF44848}"/>
                  </a:ext>
                </a:extLst>
              </p:cNvPr>
              <p:cNvSpPr/>
              <p:nvPr/>
            </p:nvSpPr>
            <p:spPr>
              <a:xfrm>
                <a:off x="4775200" y="4185920"/>
                <a:ext cx="914400" cy="914400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BB5D96A6-3E08-1F45-9FBA-B37386F94A50}"/>
                  </a:ext>
                </a:extLst>
              </p:cNvPr>
              <p:cNvSpPr/>
              <p:nvPr/>
            </p:nvSpPr>
            <p:spPr>
              <a:xfrm>
                <a:off x="5943600" y="4196080"/>
                <a:ext cx="914400" cy="914400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F5F71185-81D9-AB47-A042-5006BFE220AD}"/>
                  </a:ext>
                </a:extLst>
              </p:cNvPr>
              <p:cNvSpPr/>
              <p:nvPr/>
            </p:nvSpPr>
            <p:spPr>
              <a:xfrm>
                <a:off x="7112000" y="4196080"/>
                <a:ext cx="914400" cy="914400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D5205BA-893C-9E43-81BA-76014E05F4DB}"/>
                </a:ext>
              </a:extLst>
            </p:cNvPr>
            <p:cNvGrpSpPr/>
            <p:nvPr/>
          </p:nvGrpSpPr>
          <p:grpSpPr>
            <a:xfrm>
              <a:off x="8834388" y="606216"/>
              <a:ext cx="1869946" cy="1747520"/>
              <a:chOff x="3606800" y="1036320"/>
              <a:chExt cx="4419600" cy="4074160"/>
            </a:xfrm>
            <a:solidFill>
              <a:schemeClr val="tx2"/>
            </a:solidFill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D6055BD7-04D2-2442-A37D-77667244DCD7}"/>
                  </a:ext>
                </a:extLst>
              </p:cNvPr>
              <p:cNvSpPr/>
              <p:nvPr/>
            </p:nvSpPr>
            <p:spPr>
              <a:xfrm>
                <a:off x="5364480" y="1036320"/>
                <a:ext cx="914400" cy="914400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8C198C27-0F96-7A4D-8BB1-40D5133C7369}"/>
                  </a:ext>
                </a:extLst>
              </p:cNvPr>
              <p:cNvCxnSpPr>
                <a:stCxn id="20" idx="3"/>
                <a:endCxn id="28" idx="7"/>
              </p:cNvCxnSpPr>
              <p:nvPr/>
            </p:nvCxnSpPr>
            <p:spPr>
              <a:xfrm flipH="1">
                <a:off x="5017209" y="1816809"/>
                <a:ext cx="481182" cy="1060302"/>
              </a:xfrm>
              <a:prstGeom prst="line">
                <a:avLst/>
              </a:prstGeom>
              <a:grpFill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343BDABF-9EE3-EC4F-B443-4A10A5E5AE86}"/>
                  </a:ext>
                </a:extLst>
              </p:cNvPr>
              <p:cNvCxnSpPr>
                <a:cxnSpLocks/>
                <a:stCxn id="20" idx="5"/>
                <a:endCxn id="27" idx="1"/>
              </p:cNvCxnSpPr>
              <p:nvPr/>
            </p:nvCxnSpPr>
            <p:spPr>
              <a:xfrm>
                <a:off x="6144969" y="1816809"/>
                <a:ext cx="542142" cy="1060302"/>
              </a:xfrm>
              <a:prstGeom prst="line">
                <a:avLst/>
              </a:prstGeom>
              <a:grpFill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C9D1EA3B-DA79-E746-9C27-F96F0491CC16}"/>
                  </a:ext>
                </a:extLst>
              </p:cNvPr>
              <p:cNvCxnSpPr/>
              <p:nvPr/>
            </p:nvCxnSpPr>
            <p:spPr>
              <a:xfrm flipH="1">
                <a:off x="4089903" y="3391609"/>
                <a:ext cx="481182" cy="1060302"/>
              </a:xfrm>
              <a:prstGeom prst="line">
                <a:avLst/>
              </a:prstGeom>
              <a:grpFill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F545E359-2A3C-9546-97CF-39CF3CA0A41B}"/>
                  </a:ext>
                </a:extLst>
              </p:cNvPr>
              <p:cNvCxnSpPr/>
              <p:nvPr/>
            </p:nvCxnSpPr>
            <p:spPr>
              <a:xfrm flipH="1">
                <a:off x="6408214" y="3391609"/>
                <a:ext cx="481182" cy="1060302"/>
              </a:xfrm>
              <a:prstGeom prst="line">
                <a:avLst/>
              </a:prstGeom>
              <a:grpFill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B0BBE347-B8D2-8348-AF84-20063B1E4E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41010" y="3405431"/>
                <a:ext cx="423470" cy="1046480"/>
              </a:xfrm>
              <a:prstGeom prst="line">
                <a:avLst/>
              </a:prstGeom>
              <a:grpFill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D127F553-E9F7-F842-A0FA-48214C83AE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45730" y="3398520"/>
                <a:ext cx="423470" cy="1046480"/>
              </a:xfrm>
              <a:prstGeom prst="line">
                <a:avLst/>
              </a:prstGeom>
              <a:grpFill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074BFAA1-1258-4E45-BB21-696BB03FCB1C}"/>
                  </a:ext>
                </a:extLst>
              </p:cNvPr>
              <p:cNvSpPr/>
              <p:nvPr/>
            </p:nvSpPr>
            <p:spPr>
              <a:xfrm>
                <a:off x="6553200" y="2743200"/>
                <a:ext cx="914400" cy="914400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69A49523-D394-394E-89D5-F680B143E9B2}"/>
                  </a:ext>
                </a:extLst>
              </p:cNvPr>
              <p:cNvSpPr/>
              <p:nvPr/>
            </p:nvSpPr>
            <p:spPr>
              <a:xfrm>
                <a:off x="4236720" y="2743200"/>
                <a:ext cx="914400" cy="914400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2900ADBE-4534-1949-AC6F-026D01A89520}"/>
                  </a:ext>
                </a:extLst>
              </p:cNvPr>
              <p:cNvSpPr/>
              <p:nvPr/>
            </p:nvSpPr>
            <p:spPr>
              <a:xfrm>
                <a:off x="3606800" y="4196080"/>
                <a:ext cx="914400" cy="914400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CFD6D7AE-7E31-B84F-9495-077DF5E5A40E}"/>
                  </a:ext>
                </a:extLst>
              </p:cNvPr>
              <p:cNvSpPr/>
              <p:nvPr/>
            </p:nvSpPr>
            <p:spPr>
              <a:xfrm>
                <a:off x="4775200" y="4185920"/>
                <a:ext cx="914400" cy="914400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2B580BDE-BB71-0C49-B1FD-9576507961FC}"/>
                  </a:ext>
                </a:extLst>
              </p:cNvPr>
              <p:cNvSpPr/>
              <p:nvPr/>
            </p:nvSpPr>
            <p:spPr>
              <a:xfrm>
                <a:off x="5943600" y="4196080"/>
                <a:ext cx="914400" cy="914400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20E72DBC-5F63-E64D-A05B-F702F643231B}"/>
                  </a:ext>
                </a:extLst>
              </p:cNvPr>
              <p:cNvSpPr/>
              <p:nvPr/>
            </p:nvSpPr>
            <p:spPr>
              <a:xfrm>
                <a:off x="7112000" y="4196080"/>
                <a:ext cx="914400" cy="914400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5" name="Right Arrow 14">
              <a:extLst>
                <a:ext uri="{FF2B5EF4-FFF2-40B4-BE49-F238E27FC236}">
                  <a16:creationId xmlns:a16="http://schemas.microsoft.com/office/drawing/2014/main" id="{C669BDB1-2C7E-E04E-A8AF-7279E9D7C0BC}"/>
                </a:ext>
              </a:extLst>
            </p:cNvPr>
            <p:cNvSpPr/>
            <p:nvPr/>
          </p:nvSpPr>
          <p:spPr>
            <a:xfrm>
              <a:off x="2145479" y="1283871"/>
              <a:ext cx="682123" cy="365760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ight Arrow 16">
              <a:extLst>
                <a:ext uri="{FF2B5EF4-FFF2-40B4-BE49-F238E27FC236}">
                  <a16:creationId xmlns:a16="http://schemas.microsoft.com/office/drawing/2014/main" id="{FF86B1DE-113D-4447-8C81-AB768D2735E2}"/>
                </a:ext>
              </a:extLst>
            </p:cNvPr>
            <p:cNvSpPr/>
            <p:nvPr/>
          </p:nvSpPr>
          <p:spPr>
            <a:xfrm>
              <a:off x="7687286" y="1297096"/>
              <a:ext cx="682123" cy="365760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2BD9955-FE8B-DB40-B6AC-BFC909BD25C6}"/>
                </a:ext>
              </a:extLst>
            </p:cNvPr>
            <p:cNvSpPr txBox="1"/>
            <p:nvPr/>
          </p:nvSpPr>
          <p:spPr>
            <a:xfrm>
              <a:off x="8525130" y="969573"/>
              <a:ext cx="102731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0" dirty="0"/>
                <a:t>+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2A0FABD-83E5-F44B-BCAF-B93B5D6B867A}"/>
                </a:ext>
              </a:extLst>
            </p:cNvPr>
            <p:cNvSpPr txBox="1"/>
            <p:nvPr/>
          </p:nvSpPr>
          <p:spPr>
            <a:xfrm>
              <a:off x="6666917" y="732490"/>
              <a:ext cx="906094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400" dirty="0"/>
                <a:t>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61850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3BE48-6C1A-8446-91BE-B362591AB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485900"/>
          </a:xfrm>
        </p:spPr>
        <p:txBody>
          <a:bodyPr>
            <a:normAutofit/>
          </a:bodyPr>
          <a:lstStyle/>
          <a:p>
            <a:r>
              <a:rPr lang="en-US" sz="3600" b="1" dirty="0"/>
              <a:t>Peptide-TCR </a:t>
            </a:r>
            <a:r>
              <a:rPr lang="en-US" sz="3600" b="1" dirty="0" err="1"/>
              <a:t>CatBoost</a:t>
            </a:r>
            <a:r>
              <a:rPr lang="en-US" sz="3600" b="1" dirty="0"/>
              <a:t>: Evaluation Metrics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8267AC9-7B94-3A49-80FB-C9F8D12FE2F8}"/>
              </a:ext>
            </a:extLst>
          </p:cNvPr>
          <p:cNvGrpSpPr/>
          <p:nvPr/>
        </p:nvGrpSpPr>
        <p:grpSpPr>
          <a:xfrm>
            <a:off x="250370" y="1596865"/>
            <a:ext cx="11522531" cy="3993083"/>
            <a:chOff x="250370" y="1596865"/>
            <a:chExt cx="11522531" cy="3993083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6B7D5A9-FCF5-8C40-8B84-505A611E97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71931" y="1620442"/>
              <a:ext cx="5200970" cy="3928993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12650BCA-B671-304E-9BEA-6DC1FEF2BED2}"/>
                </a:ext>
              </a:extLst>
            </p:cNvPr>
            <p:cNvGrpSpPr/>
            <p:nvPr/>
          </p:nvGrpSpPr>
          <p:grpSpPr>
            <a:xfrm>
              <a:off x="250370" y="1616012"/>
              <a:ext cx="6471016" cy="3973936"/>
              <a:chOff x="-65317" y="1713984"/>
              <a:chExt cx="6471016" cy="3973936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12B47EBD-67B8-D54B-BC27-4D4639F12C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8628" y="1898650"/>
                <a:ext cx="5321772" cy="3450716"/>
              </a:xfrm>
              <a:prstGeom prst="rect">
                <a:avLst/>
              </a:prstGeom>
            </p:spPr>
          </p:pic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7786578-9001-3B4A-9BA4-C14A46C3B16E}"/>
                  </a:ext>
                </a:extLst>
              </p:cNvPr>
              <p:cNvSpPr txBox="1"/>
              <p:nvPr/>
            </p:nvSpPr>
            <p:spPr>
              <a:xfrm rot="16200000">
                <a:off x="-230556" y="3454731"/>
                <a:ext cx="92903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Accuracy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D9E87D6-29BF-454B-A2B4-A14841CB8337}"/>
                  </a:ext>
                </a:extLst>
              </p:cNvPr>
              <p:cNvSpPr txBox="1"/>
              <p:nvPr/>
            </p:nvSpPr>
            <p:spPr>
              <a:xfrm>
                <a:off x="2539815" y="5349366"/>
                <a:ext cx="98103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Iterations</a:t>
                </a:r>
              </a:p>
            </p:txBody>
          </p: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AFE52E5-3B6B-9B4C-8228-F1CE8A46E8A4}"/>
                  </a:ext>
                </a:extLst>
              </p:cNvPr>
              <p:cNvSpPr txBox="1"/>
              <p:nvPr/>
            </p:nvSpPr>
            <p:spPr>
              <a:xfrm>
                <a:off x="-65317" y="1713984"/>
                <a:ext cx="3177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</a:t>
                </a: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96FA8C6-1938-F449-89AB-A35A836003FD}"/>
                  </a:ext>
                </a:extLst>
              </p:cNvPr>
              <p:cNvSpPr txBox="1"/>
              <p:nvPr/>
            </p:nvSpPr>
            <p:spPr>
              <a:xfrm>
                <a:off x="6095999" y="1713984"/>
                <a:ext cx="3097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B</a:t>
                </a:r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81F3FC0-2F60-154D-B0DC-ACFD4C374259}"/>
                </a:ext>
              </a:extLst>
            </p:cNvPr>
            <p:cNvSpPr txBox="1"/>
            <p:nvPr/>
          </p:nvSpPr>
          <p:spPr>
            <a:xfrm>
              <a:off x="2063694" y="1596865"/>
              <a:ext cx="28523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3 Fold Cross Validation Accuracy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55901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CC70B-3525-8145-A57C-5C61F66E5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996543" cy="1325563"/>
          </a:xfrm>
        </p:spPr>
        <p:txBody>
          <a:bodyPr>
            <a:normAutofit/>
          </a:bodyPr>
          <a:lstStyle/>
          <a:p>
            <a:r>
              <a:rPr lang="en-US" sz="3600" b="1" dirty="0"/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F9FDE-290E-A54D-ADC8-13F101FE1F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446" y="905432"/>
            <a:ext cx="10750378" cy="4351338"/>
          </a:xfrm>
        </p:spPr>
        <p:txBody>
          <a:bodyPr/>
          <a:lstStyle/>
          <a:p>
            <a:r>
              <a:rPr lang="en-US" dirty="0"/>
              <a:t>Acquire TCR-Peptide negative data</a:t>
            </a:r>
          </a:p>
          <a:p>
            <a:r>
              <a:rPr lang="en-US" dirty="0"/>
              <a:t>Further Parameter Tuning for MHC-Peptide binding</a:t>
            </a:r>
          </a:p>
          <a:p>
            <a:r>
              <a:rPr lang="en-US" dirty="0"/>
              <a:t>UI web tool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4DFEC3A-38AD-C747-B10B-C27F04668052}"/>
              </a:ext>
            </a:extLst>
          </p:cNvPr>
          <p:cNvSpPr txBox="1">
            <a:spLocks/>
          </p:cNvSpPr>
          <p:nvPr/>
        </p:nvSpPr>
        <p:spPr>
          <a:xfrm>
            <a:off x="-1" y="4894069"/>
            <a:ext cx="499654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/>
              <a:t>Acknowledgments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706A4F-8E66-4C4E-BB92-3883DF618E1C}"/>
              </a:ext>
            </a:extLst>
          </p:cNvPr>
          <p:cNvSpPr txBox="1"/>
          <p:nvPr/>
        </p:nvSpPr>
        <p:spPr>
          <a:xfrm>
            <a:off x="3290402" y="2114639"/>
            <a:ext cx="5080000" cy="258532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User Input</a:t>
            </a:r>
          </a:p>
          <a:p>
            <a:r>
              <a:rPr lang="en-US" dirty="0"/>
              <a:t>Peptide TPRSPQPEL</a:t>
            </a:r>
          </a:p>
          <a:p>
            <a:r>
              <a:rPr lang="en-US" dirty="0"/>
              <a:t>HLA HLA-B7:01</a:t>
            </a:r>
          </a:p>
          <a:p>
            <a:r>
              <a:rPr lang="en-US" dirty="0"/>
              <a:t>TCR CAAAATPGNTGKLIF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Results: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TPRSPQPEL is a strong binder to HLA B7:01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TPRSPQPEL does not bind to CAAAATPGNTGKLIF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0926391-C542-B044-92D8-8AADFAA168C4}"/>
              </a:ext>
            </a:extLst>
          </p:cNvPr>
          <p:cNvSpPr txBox="1">
            <a:spLocks/>
          </p:cNvSpPr>
          <p:nvPr/>
        </p:nvSpPr>
        <p:spPr>
          <a:xfrm>
            <a:off x="-679768" y="5840174"/>
            <a:ext cx="11874990" cy="7343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dirty="0"/>
              <a:t>Thank you to the Cruz Lab and IBS program for their guidance and support. </a:t>
            </a:r>
          </a:p>
        </p:txBody>
      </p:sp>
    </p:spTree>
    <p:extLst>
      <p:ext uri="{BB962C8B-B14F-4D97-AF65-F5344CB8AC3E}">
        <p14:creationId xmlns:p14="http://schemas.microsoft.com/office/powerpoint/2010/main" val="40532992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6625</TotalTime>
  <Words>782</Words>
  <Application>Microsoft Macintosh PowerPoint</Application>
  <PresentationFormat>Widescreen</PresentationFormat>
  <Paragraphs>463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Office Theme</vt:lpstr>
      <vt:lpstr>Predicting Peptide Binding for HLA Alleles &amp; T Cell Receptors</vt:lpstr>
      <vt:lpstr>PowerPoint Presentation</vt:lpstr>
      <vt:lpstr>Peptide-MHC Data and CatBoost</vt:lpstr>
      <vt:lpstr>Peptide-MHC CatBoost: Evaluation and Cross Validation</vt:lpstr>
      <vt:lpstr>Peptide-MHC CatBoost Model Improvements</vt:lpstr>
      <vt:lpstr>Peptide-TCR Binding Data Preparation</vt:lpstr>
      <vt:lpstr>Peptide-TCR CatBoost: Evaluation Metrics</vt:lpstr>
      <vt:lpstr>Future Work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peptide-mhc &amp; peptide-tcr binding and recognition</dc:title>
  <dc:creator>Microsoft Office User</dc:creator>
  <cp:lastModifiedBy>Microsoft Office User</cp:lastModifiedBy>
  <cp:revision>85</cp:revision>
  <dcterms:created xsi:type="dcterms:W3CDTF">2022-05-27T14:35:59Z</dcterms:created>
  <dcterms:modified xsi:type="dcterms:W3CDTF">2022-06-09T17:14:45Z</dcterms:modified>
</cp:coreProperties>
</file>